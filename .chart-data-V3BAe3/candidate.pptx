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3.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4.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1f2de22bd1241af" /><Relationship Type="http://schemas.openxmlformats.org/officeDocument/2006/relationships/extended-properties" Target="/docProps/app.xml" Id="Rfd39e6c772dd4841" /><Relationship Type="http://schemas.openxmlformats.org/officeDocument/2006/relationships/officeDocument" Target="/ppt/presentation.xml" Id="R5ac38afacdda4b59" /></Relationships>
</file>

<file path=ppt/presentation.xml><?xml version="1.0" encoding="utf-8"?>
<p:presentation xmlns:p="http://schemas.openxmlformats.org/presentationml/2006/main">
  <p:sldMasterIdLst>
    <p:sldMasterId xmlns:r="http://schemas.openxmlformats.org/officeDocument/2006/relationships" id="2147483648" r:id="R6c77a7b584a1415d"/>
  </p:sldMasterIdLst>
  <p:notesMasterIdLst>
    <p:notesMasterId xmlns:r="http://schemas.openxmlformats.org/officeDocument/2006/relationships" r:id="Rcbdadd71d84e4e12"/>
  </p:notesMasterIdLst>
  <p:sldIdLst>
    <p:sldId xmlns:r="http://schemas.openxmlformats.org/officeDocument/2006/relationships" id="256" r:id="Rb038e356ce5d46f9"/>
    <p:sldId xmlns:r="http://schemas.openxmlformats.org/officeDocument/2006/relationships" id="257" r:id="R3f78dfc9740e4fb1"/>
    <p:sldId xmlns:r="http://schemas.openxmlformats.org/officeDocument/2006/relationships" id="258" r:id="R66ff73f56d1248af"/>
    <p:sldId xmlns:r="http://schemas.openxmlformats.org/officeDocument/2006/relationships" id="259" r:id="Red9b49fcf479467c"/>
    <p:sldId xmlns:r="http://schemas.openxmlformats.org/officeDocument/2006/relationships" id="260" r:id="R52671a7dedb34109"/>
    <p:sldId xmlns:r="http://schemas.openxmlformats.org/officeDocument/2006/relationships" id="261" r:id="R9ae18c4de44c40b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bd180d62472439e" /><Relationship Type="http://schemas.openxmlformats.org/officeDocument/2006/relationships/slideMaster" Target="/ppt/slideMasters/slideMaster1.xml" Id="R6c77a7b584a1415d" /><Relationship Type="http://schemas.openxmlformats.org/officeDocument/2006/relationships/notesMaster" Target="/ppt/notesMasters/notesMaster1.xml" Id="Rcbdadd71d84e4e12" /><Relationship Type="http://schemas.openxmlformats.org/officeDocument/2006/relationships/presProps" Target="/ppt/presProps.xml" Id="Rbe8fc56c8ba047cd" /><Relationship Type="http://schemas.openxmlformats.org/officeDocument/2006/relationships/tableStyles" Target="/ppt/tableStyles.xml" Id="R8ba044c59eff41f2" /><Relationship Type="http://schemas.openxmlformats.org/officeDocument/2006/relationships/slide" Target="/ppt/slides/slide1.xml" Id="Rb038e356ce5d46f9" /><Relationship Type="http://schemas.openxmlformats.org/officeDocument/2006/relationships/slide" Target="/ppt/slides/slide2.xml" Id="R3f78dfc9740e4fb1" /><Relationship Type="http://schemas.openxmlformats.org/officeDocument/2006/relationships/slide" Target="/ppt/slides/slide3.xml" Id="R66ff73f56d1248af" /><Relationship Type="http://schemas.openxmlformats.org/officeDocument/2006/relationships/slide" Target="/ppt/slides/slide4.xml" Id="Red9b49fcf479467c" /><Relationship Type="http://schemas.openxmlformats.org/officeDocument/2006/relationships/slide" Target="/ppt/slides/slide5.xml" Id="R52671a7dedb34109" /><Relationship Type="http://schemas.openxmlformats.org/officeDocument/2006/relationships/slide" Target="/ppt/slides/slide6.xml" Id="R9ae18c4de44c40b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59e4550e5fd4e7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9156af7f354904" /><Relationship Type="http://schemas.openxmlformats.org/officeDocument/2006/relationships/notesMaster" Target="/ppt/notesMasters/notesMaster1.xml" Id="Re5bdda98e9674e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cd4525ff1b1043c0" /><Relationship Type="http://schemas.openxmlformats.org/officeDocument/2006/relationships/notesMaster" Target="/ppt/notesMasters/notesMaster1.xml" Id="R38e5b839984c48f4" /></Relationships>
</file>

<file path=ppt/notesSlides/_rels/notesSlide3.xml.rels>&#65279;<?xml version="1.0" encoding="utf-8"?><Relationships xmlns="http://schemas.openxmlformats.org/package/2006/relationships"><Relationship Type="http://schemas.openxmlformats.org/officeDocument/2006/relationships/slide" Target="/ppt/slides/slide3.xml" Id="R7ecdad050e194a76" /><Relationship Type="http://schemas.openxmlformats.org/officeDocument/2006/relationships/notesMaster" Target="/ppt/notesMasters/notesMaster1.xml" Id="R850ec1dcd3eb4c4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b5f3eb991f04264" /><Relationship Type="http://schemas.openxmlformats.org/officeDocument/2006/relationships/notesMaster" Target="/ppt/notesMasters/notesMaster1.xml" Id="Reb08e6603f20451a" /></Relationships>
</file>

<file path=ppt/notesSlides/_rels/notesSlide5.xml.rels>&#65279;<?xml version="1.0" encoding="utf-8"?><Relationships xmlns="http://schemas.openxmlformats.org/package/2006/relationships"><Relationship Type="http://schemas.openxmlformats.org/officeDocument/2006/relationships/slide" Target="/ppt/slides/slide5.xml" Id="Rc32e0a4d68154bf3" /><Relationship Type="http://schemas.openxmlformats.org/officeDocument/2006/relationships/notesMaster" Target="/ppt/notesMasters/notesMaster1.xml" Id="Rf99eaa96d8904171" /></Relationships>
</file>

<file path=ppt/notesSlides/_rels/notesSlide6.xml.rels>&#65279;<?xml version="1.0" encoding="utf-8"?><Relationships xmlns="http://schemas.openxmlformats.org/package/2006/relationships"><Relationship Type="http://schemas.openxmlformats.org/officeDocument/2006/relationships/slide" Target="/ppt/slides/slide6.xml" Id="R06f3363c76254c87" /><Relationship Type="http://schemas.openxmlformats.org/officeDocument/2006/relationships/notesMaster" Target="/ppt/notesMasters/notesMaster1.xml" Id="Ra761e1b9f27e46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Week_5_to_9_SYNTHETIC_demo_data.xlsx. All Week 5-9 trial values are synthetic, including the additional Week 5 values. Supplied records remain separate in Source records. The generated data illustrates a scenario and cannot establish measured demo performance. The source PDF contains Week 4 qualitative tests used as Week 5 context. The workbook contains 50 sampling trials, 150 latency requests and 50 position trials, plus seven supplied position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Book2.xlsx, Sheet1!A1:D8. The user confirmed that left/right distances describe mounting positions. 30/30 cm: accuracies 85%, 84%, 80%, 82%, mean 82.75%, holes detected 6, 6, 5, 5. 35/35 cm: 78%, 75%, 80%, mean 77.6667%, holes detected 4, 4, 6. Test week and denominator are unspecified. Traceability PDF: engg3000_Traceability_MatthewThompson48234559 (2).pdf, pp. 9-10, T-13. Player range is distinct from mounting position. The 50-90 cm range is qualitative reliable lane detection, not a calibrated distance error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Week_5_to_9_SYNTHETIC_demo_data.xlsx. All Week 5-9 trial values are synthetic, including the additional Week 5 values. Supplied records remain separate in Source records. The generated data illustrates a scenario and cannot establish measured demo performance. The source PDF contains Week 4 qualitative tests used as Week 5 context. Sampling!A5:K54 and Summary!B5:C9. 10 runs per week, two sensors, 60 seconds per run. Acquired Hz = acquired count / duration. Valid Hz = valid count / duration. Nominal rate = 1000 / (45 ms × 2 sensors) = 11.1111 Hz per sensor. The mean acquired rate stays near 10.93-10.95 Hz. The model increases valid-reading yield, not the configured trigger rate. PDF p. 8 documents alternating 45 ms triggers. The two-sensor architecture through Week 9 is a scenario assumption.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Week_5_to_9_SYNTHETIC_demo_data.xlsx. All Week 5-9 trial values are synthetic, including the additional Week 5 values. Supplied records remain separate in Source records. The generated data illustrates a scenario and cannot establish measured demo performance. The source PDF contains Week 4 qualitative tests used as Week 5 context. Latency!A5:G154 and Summary!D5:E9. RTT is computer-timed HTTP request/response duration, not one-way latency or Wi-Fi connection time. Weekly mean RTTs: 30.010, 26.563, 29.110, 23.930, 21.013 ms. Maxima: 58.4, 67, 84, 60.3, 61.7 ms. Week 7 rises relative to Week 6. Browser polling changes from 75 ms to the PDF's 100 ms tuning candidate in the scenario. Polling interval is distinct from RTT. Lower RTT does not establish faster overall gameplay. The attachments supplied no measured RTT distribution. Additional remote-node links require separate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Week_5_to_9_SYNTHETIC_demo_data.xlsx. All Week 5-9 trial values are synthetic, including the additional Week 5 values. Supplied records remain separate in Source records. The generated data illustrates a scenario and cannot establish measured demo performance. The source PDF contains Week 4 qualitative tests used as Week 5 context. Position!A5:K54 and Summary!F5:G9. Each setup has 500 attempts per week. 30/30 cm counts correct by week: 403, 437, 461, 467, 485. 35/35 cm: 388, 398, 427, 443, 460. Incorrect and missed responses remain in the denominator. This measures hole classification, not coordinate error in cm. Hypothetical improvements in mounting, calibration and filtering motivate the scenario. No cause or implementation improvement is established by synthetic data. Week 5 simulated 80.6% and 77.6% differ from the separate supplied means 82.75% and 77.67%.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Week_5_to_9_SYNTHETIC_demo_data.xlsx. All Week 5-9 trial values are synthetic, including the additional Week 5 values. Supplied records remain separate in Source records. The generated data illustrates a scenario and cannot establish measured demo performance. The source PDF contains Week 4 qualitative tests used as Week 5 context. Source: Summary!A4:G9. All numbers match the workbook, rounded only for display. The native table keeps the weekly values editable. Workbook tabs preserve the original position records and document simulation assumptions. Raw trial records remain in the accompanying workbook rather than overcrowding the slides.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5e23471ad448a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6fa440002114b74" /><Relationship Type="http://schemas.openxmlformats.org/officeDocument/2006/relationships/slideLayout" Target="/ppt/slideLayouts/slideLayout1.xml" Id="Rbc3eddb36bef4bd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c3eddb36bef4bd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21e08bdbfd84dd6" /><Relationship Type="http://schemas.openxmlformats.org/officeDocument/2006/relationships/notesSlide" Target="/ppt/notesSlides/notesSlide1.xml" Id="R291a02a1e19946d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0ad3f3f063d4e4b" /><Relationship Type="http://schemas.openxmlformats.org/officeDocument/2006/relationships/chart" Target="/ppt/slides/charts/chart1.xml" Id="R384a6ad634f844bb" /><Relationship Type="http://schemas.openxmlformats.org/officeDocument/2006/relationships/notesSlide" Target="/ppt/notesSlides/notesSlide2.xml" Id="Rae83dd750e8f4a7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f5db061365545fa" /><Relationship Type="http://schemas.openxmlformats.org/officeDocument/2006/relationships/chart" Target="/ppt/slides/charts/chart2.xml" Id="R5f618ed94dfc47cb" /><Relationship Type="http://schemas.openxmlformats.org/officeDocument/2006/relationships/notesSlide" Target="/ppt/notesSlides/notesSlide3.xml" Id="R10f28f0840bd4a8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55619de15dd4695" /><Relationship Type="http://schemas.openxmlformats.org/officeDocument/2006/relationships/chart" Target="/ppt/slides/charts/chart3.xml" Id="R9268597c03724433" /><Relationship Type="http://schemas.openxmlformats.org/officeDocument/2006/relationships/notesSlide" Target="/ppt/notesSlides/notesSlide4.xml" Id="R1ec8522b9953497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e06cce48ff848a4" /><Relationship Type="http://schemas.openxmlformats.org/officeDocument/2006/relationships/chart" Target="/ppt/slides/charts/chart4.xml" Id="Rec05e465abe14dfa" /><Relationship Type="http://schemas.openxmlformats.org/officeDocument/2006/relationships/notesSlide" Target="/ppt/notesSlides/notesSlide5.xml" Id="Rf3d9f42fe52848f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037a83ebfb244f9" /><Relationship Type="http://schemas.openxmlformats.org/officeDocument/2006/relationships/notesSlide" Target="/ppt/notesSlides/notesSlide6.xml" Id="Rd485f7314457430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Reported mean accuracy</c:v>
          </c:tx>
          <c:spPr>
            <a:solidFill xmlns:a="http://schemas.openxmlformats.org/drawingml/2006/main">
              <a:srgbClr val="267CA0"/>
            </a:solidFill>
          </c:spPr>
          <c:cat>
            <c:strRef>
              <c:f>'Chart Data'!$A$2:$A$3</c:f>
              <c:strCache>
                <c:ptCount val="2"/>
                <c:pt idx="0">
                  <c:v>30/30 cm</c:v>
                </c:pt>
                <c:pt idx="1">
                  <c:v>35/35 cm</c:v>
                </c:pt>
              </c:strCache>
            </c:strRef>
          </c:cat>
          <c:val>
            <c:numRef>
              <c:f>'Chart Data'!$B$2:$B$3</c:f>
              <c:numCache>
                <c:formatCode>0.00%</c:formatCode>
                <c:ptCount val="2"/>
                <c:pt idx="0">
                  <c:v>0.8275</c:v>
                </c:pt>
                <c:pt idx="1">
                  <c:v>0.776667</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8334B"/>
                  </a:solidFill>
                  <a:latin typeface="Arial"/>
                  <a:ea typeface="Arial"/>
                  <a:cs typeface="Arial"/>
                </a:defRPr>
              </a:pPr>
            </a:p>
          </c:txPr>
          <c:dLblPos val="outEnd"/>
          <c:showLegendKey val="0"/>
          <c:showVal val="1"/>
          <c:showCatName val="0"/>
          <c:showSerName val="0"/>
          <c:showPercent val="0"/>
          <c:showBubbleSize val="0"/>
          <c:showLeaderLines val="0"/>
        </c:dLbls>
        <c:gapWidth val="1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8334B"/>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E2E9E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577"/>
                </a:solidFill>
                <a:latin typeface="Arial"/>
                <a:ea typeface="Arial"/>
                <a:cs typeface="Arial"/>
              </a:defRPr>
            </a:pPr>
          </a:p>
        </c:txPr>
        <c:crossAx val="48650112"/>
        <c:crossBetween val="between"/>
        <c:majorUnit val="0.2"/>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Acquired readings per sensor</c:v>
          </c:tx>
          <c:spPr>
            <a:ln xmlns:a="http://schemas.openxmlformats.org/drawingml/2006/main" w="28575">
              <a:solidFill>
                <a:srgbClr val="267CA0"/>
              </a:solidFill>
            </a:ln>
          </c:spPr>
          <c:marker>
            <c:symbol val="circle"/>
            <c:size val="7"/>
            <c:spPr>
              <a:solidFill xmlns:a="http://schemas.openxmlformats.org/drawingml/2006/main">
                <a:srgbClr val="267CA0"/>
              </a:solidFill>
            </c:spPr>
          </c:marker>
          <c:cat>
            <c:strRef>
              <c:f>'Chart Data'!$A$2:$A$6</c:f>
              <c:strCache>
                <c:ptCount val="5"/>
                <c:pt idx="0">
                  <c:v>Week 5</c:v>
                </c:pt>
                <c:pt idx="1">
                  <c:v>Week 6</c:v>
                </c:pt>
                <c:pt idx="2">
                  <c:v>Week 7</c:v>
                </c:pt>
                <c:pt idx="3">
                  <c:v>Week 8</c:v>
                </c:pt>
                <c:pt idx="4">
                  <c:v>Week 9</c:v>
                </c:pt>
              </c:strCache>
            </c:strRef>
          </c:cat>
          <c:val>
            <c:numRef>
              <c:f>'Chart Data'!$B$2:$B$6</c:f>
              <c:numCache>
                <c:formatCode>0.0</c:formatCode>
                <c:ptCount val="5"/>
                <c:pt idx="0">
                  <c:v>10.928333</c:v>
                </c:pt>
                <c:pt idx="1">
                  <c:v>10.933333</c:v>
                </c:pt>
                <c:pt idx="2">
                  <c:v>10.933333</c:v>
                </c:pt>
                <c:pt idx="3">
                  <c:v>10.935</c:v>
                </c:pt>
                <c:pt idx="4">
                  <c:v>10.95</c:v>
                </c:pt>
              </c:numCache>
            </c:numRef>
          </c:val>
          <c:smooth val="0"/>
        </c:ser>
        <c:ser>
          <c:idx val="1"/>
          <c:order val="1"/>
          <c:tx>
            <c:v>Valid readings per sensor</c:v>
          </c:tx>
          <c:spPr>
            <a:ln xmlns:a="http://schemas.openxmlformats.org/drawingml/2006/main" w="28575">
              <a:solidFill>
                <a:srgbClr val="C77D36"/>
              </a:solidFill>
            </a:ln>
          </c:spPr>
          <c:marker>
            <c:symbol val="circle"/>
            <c:size val="7"/>
            <c:spPr>
              <a:solidFill xmlns:a="http://schemas.openxmlformats.org/drawingml/2006/main">
                <a:srgbClr val="C77D36"/>
              </a:solidFill>
            </c:spPr>
          </c:marker>
          <c:cat>
            <c:strRef>
              <c:f>'Chart Data'!$C$2:$C$6</c:f>
              <c:strCache>
                <c:ptCount val="5"/>
                <c:pt idx="0">
                  <c:v>Week 5</c:v>
                </c:pt>
                <c:pt idx="1">
                  <c:v>Week 6</c:v>
                </c:pt>
                <c:pt idx="2">
                  <c:v>Week 7</c:v>
                </c:pt>
                <c:pt idx="3">
                  <c:v>Week 8</c:v>
                </c:pt>
                <c:pt idx="4">
                  <c:v>Week 9</c:v>
                </c:pt>
              </c:strCache>
            </c:strRef>
          </c:cat>
          <c:val>
            <c:numRef>
              <c:f>'Chart Data'!$D$2:$D$6</c:f>
              <c:numCache>
                <c:formatCode>0.0</c:formatCode>
                <c:ptCount val="5"/>
                <c:pt idx="0">
                  <c:v>9.201667</c:v>
                </c:pt>
                <c:pt idx="1">
                  <c:v>9.768333</c:v>
                </c:pt>
                <c:pt idx="2">
                  <c:v>9.941667</c:v>
                </c:pt>
                <c:pt idx="3">
                  <c:v>10.326667</c:v>
                </c:pt>
                <c:pt idx="4">
                  <c:v>10.6</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577"/>
                </a:solidFill>
                <a:latin typeface="Arial"/>
                <a:ea typeface="Arial"/>
                <a:cs typeface="Arial"/>
              </a:defRPr>
            </a:pPr>
          </a:p>
        </c:txPr>
        <c:crossAx val="48672768"/>
      </c:catAx>
      <c:valAx>
        <c:axId val="48672768"/>
        <c:scaling>
          <c:orientation val="minMax"/>
          <c:max val="12"/>
          <c:min val="0"/>
        </c:scaling>
        <c:delete val="0"/>
        <c:axPos val="l"/>
        <c:majorGridlines>
          <c:spPr>
            <a:ln xmlns:a="http://schemas.openxmlformats.org/drawingml/2006/main" w="9525">
              <a:solidFill>
                <a:srgbClr val="E2E9EF"/>
              </a:solidFill>
            </a:ln>
          </c:spPr>
        </c:majorGridlines>
        <c:title>
          <c:tx>
            <c:rich>
              <a:bodyPr xmlns:a="http://schemas.openxmlformats.org/drawingml/2006/main"/>
              <a:lstStyle xmlns:a="http://schemas.openxmlformats.org/drawingml/2006/main"/>
              <a:p xmlns:a="http://schemas.openxmlformats.org/drawingml/2006/main">
                <a:r>
                  <a:rPr sz="1500">
                    <a:solidFill>
                      <a:srgbClr val="536577"/>
                    </a:solidFill>
                    <a:latin typeface="Arial"/>
                    <a:ea typeface="Arial"/>
                    <a:cs typeface="Arial"/>
                  </a:rPr>
                  <a:t>Samples per second (Hz)</a:t>
                </a:r>
              </a:p>
            </c:rich>
          </c:tx>
          <c:overlay val="0"/>
          <c:txPr>
            <a:bodyPr xmlns:a="http://schemas.openxmlformats.org/drawingml/2006/main" anchorCtr="1"/>
            <a:lstStyle xmlns:a="http://schemas.openxmlformats.org/drawingml/2006/main"/>
            <a:p xmlns:a="http://schemas.openxmlformats.org/drawingml/2006/main">
              <a:pPr>
                <a:defRPr sz="1500">
                  <a:solidFill>
                    <a:srgbClr val="53657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577"/>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8334B"/>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Mean RTT</c:v>
          </c:tx>
          <c:spPr>
            <a:ln xmlns:a="http://schemas.openxmlformats.org/drawingml/2006/main" w="28575">
              <a:solidFill>
                <a:srgbClr val="267CA0"/>
              </a:solidFill>
            </a:ln>
          </c:spPr>
          <c:marker>
            <c:symbol val="circle"/>
            <c:size val="7"/>
            <c:spPr>
              <a:solidFill xmlns:a="http://schemas.openxmlformats.org/drawingml/2006/main">
                <a:srgbClr val="267CA0"/>
              </a:solidFill>
            </c:spPr>
          </c:marker>
          <c:cat>
            <c:strRef>
              <c:f>'Chart Data'!$A$2:$A$6</c:f>
              <c:strCache>
                <c:ptCount val="5"/>
                <c:pt idx="0">
                  <c:v>Week 5</c:v>
                </c:pt>
                <c:pt idx="1">
                  <c:v>Week 6</c:v>
                </c:pt>
                <c:pt idx="2">
                  <c:v>Week 7</c:v>
                </c:pt>
                <c:pt idx="3">
                  <c:v>Week 8</c:v>
                </c:pt>
                <c:pt idx="4">
                  <c:v>Week 9</c:v>
                </c:pt>
              </c:strCache>
            </c:strRef>
          </c:cat>
          <c:val>
            <c:numRef>
              <c:f>'Chart Data'!$B$2:$B$6</c:f>
              <c:numCache>
                <c:formatCode>0.0</c:formatCode>
                <c:ptCount val="5"/>
                <c:pt idx="0">
                  <c:v>30.01</c:v>
                </c:pt>
                <c:pt idx="1">
                  <c:v>26.563333</c:v>
                </c:pt>
                <c:pt idx="2">
                  <c:v>29.11</c:v>
                </c:pt>
                <c:pt idx="3">
                  <c:v>23.93</c:v>
                </c:pt>
                <c:pt idx="4">
                  <c:v>21.013333</c:v>
                </c:pt>
              </c:numCache>
            </c:numRef>
          </c:val>
          <c:smooth val="0"/>
        </c:ser>
        <c:ser>
          <c:idx val="1"/>
          <c:order val="1"/>
          <c:tx>
            <c:v>Maximum RTT</c:v>
          </c:tx>
          <c:spPr>
            <a:ln xmlns:a="http://schemas.openxmlformats.org/drawingml/2006/main" w="28575">
              <a:solidFill>
                <a:srgbClr val="C77D36"/>
              </a:solidFill>
            </a:ln>
          </c:spPr>
          <c:marker>
            <c:symbol val="circle"/>
            <c:size val="7"/>
            <c:spPr>
              <a:solidFill xmlns:a="http://schemas.openxmlformats.org/drawingml/2006/main">
                <a:srgbClr val="C77D36"/>
              </a:solidFill>
            </c:spPr>
          </c:marker>
          <c:cat>
            <c:strRef>
              <c:f>'Chart Data'!$C$2:$C$6</c:f>
              <c:strCache>
                <c:ptCount val="5"/>
                <c:pt idx="0">
                  <c:v>Week 5</c:v>
                </c:pt>
                <c:pt idx="1">
                  <c:v>Week 6</c:v>
                </c:pt>
                <c:pt idx="2">
                  <c:v>Week 7</c:v>
                </c:pt>
                <c:pt idx="3">
                  <c:v>Week 8</c:v>
                </c:pt>
                <c:pt idx="4">
                  <c:v>Week 9</c:v>
                </c:pt>
              </c:strCache>
            </c:strRef>
          </c:cat>
          <c:val>
            <c:numRef>
              <c:f>'Chart Data'!$D$2:$D$6</c:f>
              <c:numCache>
                <c:formatCode>0.0</c:formatCode>
                <c:ptCount val="5"/>
                <c:pt idx="0">
                  <c:v>58.4</c:v>
                </c:pt>
                <c:pt idx="1">
                  <c:v>67</c:v>
                </c:pt>
                <c:pt idx="2">
                  <c:v>84</c:v>
                </c:pt>
                <c:pt idx="3">
                  <c:v>60.3</c:v>
                </c:pt>
                <c:pt idx="4">
                  <c:v>61.7</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577"/>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E2E9EF"/>
              </a:solidFill>
            </a:ln>
          </c:spPr>
        </c:majorGridlines>
        <c:title>
          <c:tx>
            <c:rich>
              <a:bodyPr xmlns:a="http://schemas.openxmlformats.org/drawingml/2006/main"/>
              <a:lstStyle xmlns:a="http://schemas.openxmlformats.org/drawingml/2006/main"/>
              <a:p xmlns:a="http://schemas.openxmlformats.org/drawingml/2006/main">
                <a:r>
                  <a:rPr sz="1500">
                    <a:solidFill>
                      <a:srgbClr val="536577"/>
                    </a:solidFill>
                    <a:latin typeface="Arial"/>
                    <a:ea typeface="Arial"/>
                    <a:cs typeface="Arial"/>
                  </a:rPr>
                  <a:t>Round-trip time (ms)</a:t>
                </a:r>
              </a:p>
            </c:rich>
          </c:tx>
          <c:overlay val="0"/>
          <c:txPr>
            <a:bodyPr xmlns:a="http://schemas.openxmlformats.org/drawingml/2006/main" anchorCtr="1"/>
            <a:lstStyle xmlns:a="http://schemas.openxmlformats.org/drawingml/2006/main"/>
            <a:p xmlns:a="http://schemas.openxmlformats.org/drawingml/2006/main">
              <a:pPr>
                <a:defRPr sz="1500">
                  <a:solidFill>
                    <a:srgbClr val="53657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577"/>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8334B"/>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varyColors val="0"/>
        <c:ser>
          <c:idx val="0"/>
          <c:order val="0"/>
          <c:tx>
            <c:v>30/30 cm mounting</c:v>
          </c:tx>
          <c:spPr>
            <a:ln xmlns:a="http://schemas.openxmlformats.org/drawingml/2006/main" w="28575">
              <a:solidFill>
                <a:srgbClr val="267CA0"/>
              </a:solidFill>
            </a:ln>
          </c:spPr>
          <c:marker>
            <c:symbol val="circle"/>
            <c:size val="7"/>
            <c:spPr>
              <a:solidFill xmlns:a="http://schemas.openxmlformats.org/drawingml/2006/main">
                <a:srgbClr val="267CA0"/>
              </a:solidFill>
            </c:spPr>
          </c:marker>
          <c:cat>
            <c:strRef>
              <c:f>'Chart Data'!$A$2:$A$6</c:f>
              <c:strCache>
                <c:ptCount val="5"/>
                <c:pt idx="0">
                  <c:v>Week 5</c:v>
                </c:pt>
                <c:pt idx="1">
                  <c:v>Week 6</c:v>
                </c:pt>
                <c:pt idx="2">
                  <c:v>Week 7</c:v>
                </c:pt>
                <c:pt idx="3">
                  <c:v>Week 8</c:v>
                </c:pt>
                <c:pt idx="4">
                  <c:v>Week 9</c:v>
                </c:pt>
              </c:strCache>
            </c:strRef>
          </c:cat>
          <c:val>
            <c:numRef>
              <c:f>'Chart Data'!$B$2:$B$6</c:f>
              <c:numCache>
                <c:formatCode>0%</c:formatCode>
                <c:ptCount val="5"/>
                <c:pt idx="0">
                  <c:v>0.806</c:v>
                </c:pt>
                <c:pt idx="1">
                  <c:v>0.874</c:v>
                </c:pt>
                <c:pt idx="2">
                  <c:v>0.922</c:v>
                </c:pt>
                <c:pt idx="3">
                  <c:v>0.934</c:v>
                </c:pt>
                <c:pt idx="4">
                  <c:v>0.97</c:v>
                </c:pt>
              </c:numCache>
            </c:numRef>
          </c:val>
          <c:smooth val="0"/>
        </c:ser>
        <c:ser>
          <c:idx val="1"/>
          <c:order val="1"/>
          <c:tx>
            <c:v>35/35 cm mounting</c:v>
          </c:tx>
          <c:spPr>
            <a:ln xmlns:a="http://schemas.openxmlformats.org/drawingml/2006/main" w="28575">
              <a:solidFill>
                <a:srgbClr val="C77D36"/>
              </a:solidFill>
            </a:ln>
          </c:spPr>
          <c:marker>
            <c:symbol val="circle"/>
            <c:size val="7"/>
            <c:spPr>
              <a:solidFill xmlns:a="http://schemas.openxmlformats.org/drawingml/2006/main">
                <a:srgbClr val="C77D36"/>
              </a:solidFill>
            </c:spPr>
          </c:marker>
          <c:cat>
            <c:strRef>
              <c:f>'Chart Data'!$C$2:$C$6</c:f>
              <c:strCache>
                <c:ptCount val="5"/>
                <c:pt idx="0">
                  <c:v>Week 5</c:v>
                </c:pt>
                <c:pt idx="1">
                  <c:v>Week 6</c:v>
                </c:pt>
                <c:pt idx="2">
                  <c:v>Week 7</c:v>
                </c:pt>
                <c:pt idx="3">
                  <c:v>Week 8</c:v>
                </c:pt>
                <c:pt idx="4">
                  <c:v>Week 9</c:v>
                </c:pt>
              </c:strCache>
            </c:strRef>
          </c:cat>
          <c:val>
            <c:numRef>
              <c:f>'Chart Data'!$D$2:$D$6</c:f>
              <c:numCache>
                <c:formatCode>0%</c:formatCode>
                <c:ptCount val="5"/>
                <c:pt idx="0">
                  <c:v>0.776</c:v>
                </c:pt>
                <c:pt idx="1">
                  <c:v>0.796</c:v>
                </c:pt>
                <c:pt idx="2">
                  <c:v>0.854</c:v>
                </c:pt>
                <c:pt idx="3">
                  <c:v>0.886</c:v>
                </c:pt>
                <c:pt idx="4">
                  <c:v>0.92</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577"/>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E2E9EF"/>
              </a:solidFill>
            </a:ln>
          </c:spPr>
        </c:majorGridlines>
        <c:title>
          <c:tx>
            <c:rich>
              <a:bodyPr xmlns:a="http://schemas.openxmlformats.org/drawingml/2006/main"/>
              <a:lstStyle xmlns:a="http://schemas.openxmlformats.org/drawingml/2006/main"/>
              <a:p xmlns:a="http://schemas.openxmlformats.org/drawingml/2006/main">
                <a:r>
                  <a:rPr sz="1500">
                    <a:solidFill>
                      <a:srgbClr val="536577"/>
                    </a:solidFill>
                    <a:latin typeface="Arial"/>
                    <a:ea typeface="Arial"/>
                    <a:cs typeface="Arial"/>
                  </a:rPr>
                  <a:t>Correct classifications</a:t>
                </a:r>
              </a:p>
            </c:rich>
          </c:tx>
          <c:overlay val="0"/>
          <c:txPr>
            <a:bodyPr xmlns:a="http://schemas.openxmlformats.org/drawingml/2006/main" anchorCtr="1"/>
            <a:lstStyle xmlns:a="http://schemas.openxmlformats.org/drawingml/2006/main"/>
            <a:p xmlns:a="http://schemas.openxmlformats.org/drawingml/2006/main">
              <a:pPr>
                <a:defRPr sz="1500">
                  <a:solidFill>
                    <a:srgbClr val="536577"/>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577"/>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8334B"/>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334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C3A2A07-383C-42C4-B8F2-B260400AA099}"/>
              </a:ext>
            </a:extLst>
          </p:cNvPr>
          <p:cNvSpPr>
            <a:spLocks xmlns:a="http://schemas.openxmlformats.org/drawingml/2006/main" noGrp="1"/>
          </p:cNvSpPr>
          <p:nvPr/>
        </p:nvSpPr>
        <p:spPr>
          <a:xfrm xmlns:a="http://schemas.openxmlformats.org/drawingml/2006/main">
            <a:off x="685800" y="6286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A9D6E7"/>
                </a:solidFill>
                <a:latin typeface="Arial"/>
                <a:ea typeface="Arial"/>
                <a:cs typeface="Arial"/>
              </a:defRPr>
            </a:pPr>
            <a:r>
              <a:rPr sz="1725" b="1">
                <a:solidFill>
                  <a:srgbClr val="A9D6E7"/>
                </a:solidFill>
                <a:latin typeface="Arial"/>
                <a:ea typeface="Arial"/>
                <a:cs typeface="Arial"/>
              </a:rPr>
              <a:t>ENGG3000 / GROUP 5</a:t>
            </a:r>
          </a:p>
        </p:txBody>
      </p:sp>
      <p:sp>
        <p:nvSpPr>
          <p:cNvPr id="2" name="">
            <a:extLst xmlns:a="http://schemas.openxmlformats.org/drawingml/2006/main">
              <a:ext uri="{FF2B5EF4-FFF2-40B4-BE49-F238E27FC236}">
                <a16:creationId xmlns:a16="http://schemas.microsoft.com/office/drawing/2014/main" id="{7FDD251E-1C67-4DC7-AEB2-976D78A4FAB9}"/>
              </a:ext>
            </a:extLst>
          </p:cNvPr>
          <p:cNvSpPr>
            <a:spLocks xmlns:a="http://schemas.openxmlformats.org/drawingml/2006/main" noGrp="1"/>
          </p:cNvSpPr>
          <p:nvPr/>
        </p:nvSpPr>
        <p:spPr>
          <a:xfrm xmlns:a="http://schemas.openxmlformats.org/drawingml/2006/main">
            <a:off x="685800" y="1676400"/>
            <a:ext cx="1038225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Week 5 to Week 9</a:t>
            </a:r>
          </a:p>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demo data</a:t>
            </a:r>
          </a:p>
        </p:txBody>
      </p:sp>
      <p:sp>
        <p:nvSpPr>
          <p:cNvPr id="3" name="">
            <a:extLst xmlns:a="http://schemas.openxmlformats.org/drawingml/2006/main">
              <a:ext uri="{FF2B5EF4-FFF2-40B4-BE49-F238E27FC236}">
                <a16:creationId xmlns:a16="http://schemas.microsoft.com/office/drawing/2014/main" id="{C9ABA360-EA41-436E-B0AA-3C5189BEB98E}"/>
              </a:ext>
            </a:extLst>
          </p:cNvPr>
          <p:cNvSpPr>
            <a:spLocks xmlns:a="http://schemas.openxmlformats.org/drawingml/2006/main" noGrp="1"/>
          </p:cNvSpPr>
          <p:nvPr/>
        </p:nvSpPr>
        <p:spPr>
          <a:xfrm xmlns:a="http://schemas.openxmlformats.org/drawingml/2006/main">
            <a:off x="723900" y="3943350"/>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E1EAF1"/>
                </a:solidFill>
                <a:latin typeface="Arial"/>
                <a:ea typeface="Arial"/>
                <a:cs typeface="Arial"/>
              </a:defRPr>
            </a:pPr>
            <a:r>
              <a:rPr sz="2325" b="0">
                <a:solidFill>
                  <a:srgbClr val="E1EAF1"/>
                </a:solidFill>
                <a:latin typeface="Arial"/>
                <a:ea typeface="Arial"/>
                <a:cs typeface="Arial"/>
              </a:rPr>
              <a:t>Sampling rate, communication latency</a:t>
            </a:r>
          </a:p>
          <a:p xmlns:a="http://schemas.openxmlformats.org/drawingml/2006/main">
            <a:pPr>
              <a:defRPr sz="2325" b="0">
                <a:solidFill>
                  <a:srgbClr val="E1EAF1"/>
                </a:solidFill>
                <a:latin typeface="Arial"/>
                <a:ea typeface="Arial"/>
                <a:cs typeface="Arial"/>
              </a:defRPr>
            </a:pPr>
            <a:r>
              <a:rPr sz="2325" b="0">
                <a:solidFill>
                  <a:srgbClr val="E1EAF1"/>
                </a:solidFill>
                <a:latin typeface="Arial"/>
                <a:ea typeface="Arial"/>
                <a:cs typeface="Arial"/>
              </a:rPr>
              <a:t>and mounting-position accuracy</a:t>
            </a:r>
          </a:p>
        </p:txBody>
      </p:sp>
      <p:sp>
        <p:nvSpPr>
          <p:cNvPr id="4" name="">
            <a:extLst xmlns:a="http://schemas.openxmlformats.org/drawingml/2006/main">
              <a:ext uri="{FF2B5EF4-FFF2-40B4-BE49-F238E27FC236}">
                <a16:creationId xmlns:a16="http://schemas.microsoft.com/office/drawing/2014/main" id="{1E7B3212-0B50-465F-8175-9146600966A3}"/>
              </a:ext>
            </a:extLst>
          </p:cNvPr>
          <p:cNvSpPr>
            <a:spLocks xmlns:a="http://schemas.openxmlformats.org/drawingml/2006/main" noGrp="1"/>
          </p:cNvSpPr>
          <p:nvPr/>
        </p:nvSpPr>
        <p:spPr>
          <a:xfrm xmlns:a="http://schemas.openxmlformats.org/drawingml/2006/main">
            <a:off x="723900" y="564832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9D6E7"/>
                </a:solidFill>
                <a:latin typeface="Arial"/>
                <a:ea typeface="Arial"/>
                <a:cs typeface="Arial"/>
              </a:defRPr>
            </a:pPr>
            <a:r>
              <a:rPr sz="1875" b="0">
                <a:solidFill>
                  <a:srgbClr val="A9D6E7"/>
                </a:solidFill>
                <a:latin typeface="Arial"/>
                <a:ea typeface="Arial"/>
                <a:cs typeface="Arial"/>
              </a:rPr>
              <a:t>Synthetic scenario based on the supplied test records</a:t>
            </a:r>
          </a:p>
        </p:txBody>
      </p:sp>
    </p:spTree>
    <p:extLst>
      <p:ext uri="{BB962C8B-B14F-4D97-AF65-F5344CB8AC3E}">
        <p14:creationId xmlns:p14="http://schemas.microsoft.com/office/powerpoint/2010/main" val="16962362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BCD7808-1CA2-41B5-A334-A05AF0462B2C}"/>
              </a:ext>
            </a:extLst>
          </p:cNvPr>
          <p:cNvSpPr>
            <a:spLocks xmlns:a="http://schemas.openxmlformats.org/drawingml/2006/main" noGrp="1"/>
          </p:cNvSpPr>
          <p:nvPr/>
        </p:nvSpPr>
        <p:spPr>
          <a:xfrm xmlns:a="http://schemas.openxmlformats.org/drawingml/2006/main">
            <a:off x="609600" y="3810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34B"/>
                </a:solidFill>
                <a:latin typeface="Arial"/>
                <a:ea typeface="Arial"/>
                <a:cs typeface="Arial"/>
              </a:defRPr>
            </a:pPr>
            <a:r>
              <a:rPr sz="3225" b="1">
                <a:solidFill>
                  <a:srgbClr val="18334B"/>
                </a:solidFill>
                <a:latin typeface="Arial"/>
                <a:ea typeface="Arial"/>
                <a:cs typeface="Arial"/>
              </a:rPr>
              <a:t>Supplied mounting-position results</a:t>
            </a:r>
          </a:p>
        </p:txBody>
      </p:sp>
      <p:sp>
        <p:nvSpPr>
          <p:cNvPr id="2" name="">
            <a:extLst xmlns:a="http://schemas.openxmlformats.org/drawingml/2006/main">
              <a:ext uri="{FF2B5EF4-FFF2-40B4-BE49-F238E27FC236}">
                <a16:creationId xmlns:a16="http://schemas.microsoft.com/office/drawing/2014/main" id="{F5BA2A87-E746-4EDF-983D-A7443383426D}"/>
              </a:ext>
            </a:extLst>
          </p:cNvPr>
          <p:cNvSpPr>
            <a:spLocks xmlns:a="http://schemas.openxmlformats.org/drawingml/2006/main" noGrp="1"/>
          </p:cNvSpPr>
          <p:nvPr/>
        </p:nvSpPr>
        <p:spPr>
          <a:xfrm xmlns:a="http://schemas.openxmlformats.org/drawingml/2006/main">
            <a:off x="628650" y="107632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577"/>
                </a:solidFill>
                <a:latin typeface="Arial"/>
                <a:ea typeface="Arial"/>
                <a:cs typeface="Arial"/>
              </a:defRPr>
            </a:pPr>
            <a:r>
              <a:rPr sz="1800" b="0">
                <a:solidFill>
                  <a:srgbClr val="536577"/>
                </a:solidFill>
                <a:latin typeface="Arial"/>
                <a:ea typeface="Arial"/>
                <a:cs typeface="Arial"/>
              </a:rPr>
              <a:t>30/30 cm has the higher mean accuracy in the seven supplied records</a:t>
            </a:r>
          </a:p>
        </p:txBody>
      </p:sp>
      <p:sp>
        <p:nvSpPr>
          <p:cNvPr id="3" name="">
            <a:extLst xmlns:a="http://schemas.openxmlformats.org/drawingml/2006/main">
              <a:ext uri="{FF2B5EF4-FFF2-40B4-BE49-F238E27FC236}">
                <a16:creationId xmlns:a16="http://schemas.microsoft.com/office/drawing/2014/main" id="{DE3754A2-1B0E-422F-8B6B-1C90E8F8B33E}"/>
              </a:ext>
            </a:extLst>
          </p:cNvPr>
          <p:cNvSpPr>
            <a:spLocks xmlns:a="http://schemas.openxmlformats.org/drawingml/2006/main" noGrp="1"/>
          </p:cNvSpPr>
          <p:nvPr/>
        </p:nvSpPr>
        <p:spPr>
          <a:xfrm xmlns:a="http://schemas.openxmlformats.org/drawingml/2006/main">
            <a:off x="628650" y="6381750"/>
            <a:ext cx="10620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577"/>
                </a:solidFill>
                <a:latin typeface="Arial"/>
                <a:ea typeface="Arial"/>
                <a:cs typeface="Arial"/>
              </a:defRPr>
            </a:pPr>
            <a:r>
              <a:rPr sz="1200" b="0">
                <a:solidFill>
                  <a:srgbClr val="536577"/>
                </a:solidFill>
                <a:latin typeface="Arial"/>
                <a:ea typeface="Arial"/>
                <a:cs typeface="Arial"/>
              </a:rPr>
              <a:t>Supplied records. Book2 does not identify the test week or accuracy denominator.</a:t>
            </a:r>
          </a:p>
        </p:txBody>
      </p:sp>
      <p:graphicFrame>
        <p:nvGraphicFramePr>
          <p:cNvPr id="11" name="Chart"/>
          <p:cNvGraphicFramePr/>
          <p:nvPr/>
        </p:nvGraphicFramePr>
        <p:xfrm>
          <a:off xmlns:a="http://schemas.openxmlformats.org/drawingml/2006/main" x="609600" y="1885950"/>
          <a:ext xmlns:a="http://schemas.openxmlformats.org/drawingml/2006/main" cx="6191250" cy="3476625"/>
        </p:xfrm>
        <a:graphic xmlns:a="http://schemas.openxmlformats.org/drawingml/2006/main">
          <a:graphicData uri="http://schemas.openxmlformats.org/drawingml/2006/chart">
            <c:chart xmlns:r="http://schemas.openxmlformats.org/officeDocument/2006/relationships" xmlns:c="http://schemas.openxmlformats.org/drawingml/2006/chart" r:id="R384a6ad634f844bb"/>
          </a:graphicData>
        </a:graphic>
      </p:graphicFrame>
      <p:sp>
        <p:nvSpPr>
          <p:cNvPr id="5" name="">
            <a:extLst xmlns:a="http://schemas.openxmlformats.org/drawingml/2006/main">
              <a:ext uri="{FF2B5EF4-FFF2-40B4-BE49-F238E27FC236}">
                <a16:creationId xmlns:a16="http://schemas.microsoft.com/office/drawing/2014/main" id="{A4EBD273-B963-4791-8D5D-E5F5CBEC5556}"/>
              </a:ext>
            </a:extLst>
          </p:cNvPr>
          <p:cNvSpPr>
            <a:spLocks xmlns:a="http://schemas.openxmlformats.org/drawingml/2006/main" noGrp="1"/>
          </p:cNvSpPr>
          <p:nvPr/>
        </p:nvSpPr>
        <p:spPr>
          <a:xfrm xmlns:a="http://schemas.openxmlformats.org/drawingml/2006/main">
            <a:off x="7239000" y="1990725"/>
            <a:ext cx="4191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34B"/>
                </a:solidFill>
                <a:latin typeface="Arial"/>
                <a:ea typeface="Arial"/>
                <a:cs typeface="Arial"/>
              </a:defRPr>
            </a:pPr>
            <a:r>
              <a:rPr sz="2175" b="1">
                <a:solidFill>
                  <a:srgbClr val="18334B"/>
                </a:solidFill>
                <a:latin typeface="Arial"/>
                <a:ea typeface="Arial"/>
                <a:cs typeface="Arial"/>
              </a:rPr>
              <a:t>4 trials at 30/30 cm</a:t>
            </a:r>
          </a:p>
          <a:p xmlns:a="http://schemas.openxmlformats.org/drawingml/2006/main">
            <a:pPr>
              <a:defRPr sz="2175" b="1">
                <a:solidFill>
                  <a:srgbClr val="18334B"/>
                </a:solidFill>
                <a:latin typeface="Arial"/>
                <a:ea typeface="Arial"/>
                <a:cs typeface="Arial"/>
              </a:defRPr>
            </a:pPr>
            <a:r>
              <a:rPr sz="2175" b="1">
                <a:solidFill>
                  <a:srgbClr val="18334B"/>
                </a:solidFill>
                <a:latin typeface="Arial"/>
                <a:ea typeface="Arial"/>
                <a:cs typeface="Arial"/>
              </a:rPr>
              <a:t>3 trials at 35/35 cm</a:t>
            </a:r>
          </a:p>
        </p:txBody>
      </p:sp>
      <p:sp>
        <p:nvSpPr>
          <p:cNvPr id="6" name="">
            <a:extLst xmlns:a="http://schemas.openxmlformats.org/drawingml/2006/main">
              <a:ext uri="{FF2B5EF4-FFF2-40B4-BE49-F238E27FC236}">
                <a16:creationId xmlns:a16="http://schemas.microsoft.com/office/drawing/2014/main" id="{04D5C0ED-A99E-48DF-86D1-766FB154EE87}"/>
              </a:ext>
            </a:extLst>
          </p:cNvPr>
          <p:cNvSpPr>
            <a:spLocks xmlns:a="http://schemas.openxmlformats.org/drawingml/2006/main" noGrp="1"/>
          </p:cNvSpPr>
          <p:nvPr/>
        </p:nvSpPr>
        <p:spPr>
          <a:xfrm xmlns:a="http://schemas.openxmlformats.org/drawingml/2006/main">
            <a:off x="7239000" y="3248025"/>
            <a:ext cx="4143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577"/>
                </a:solidFill>
                <a:latin typeface="Arial"/>
                <a:ea typeface="Arial"/>
                <a:cs typeface="Arial"/>
              </a:defRPr>
            </a:pPr>
            <a:r>
              <a:rPr sz="1950" b="0">
                <a:solidFill>
                  <a:srgbClr val="536577"/>
                </a:solidFill>
                <a:latin typeface="Arial"/>
                <a:ea typeface="Arial"/>
                <a:cs typeface="Arial"/>
              </a:rPr>
              <a:t>Distances describe sensor mounting positions. The small sample does not establish an optimum.</a:t>
            </a:r>
          </a:p>
        </p:txBody>
      </p:sp>
      <p:sp>
        <p:nvSpPr>
          <p:cNvPr id="7" name="">
            <a:extLst xmlns:a="http://schemas.openxmlformats.org/drawingml/2006/main">
              <a:ext uri="{FF2B5EF4-FFF2-40B4-BE49-F238E27FC236}">
                <a16:creationId xmlns:a16="http://schemas.microsoft.com/office/drawing/2014/main" id="{041CDD87-4B0B-4234-A92D-BD01B29A2E2D}"/>
              </a:ext>
            </a:extLst>
          </p:cNvPr>
          <p:cNvSpPr>
            <a:spLocks xmlns:a="http://schemas.openxmlformats.org/drawingml/2006/main" noGrp="1"/>
          </p:cNvSpPr>
          <p:nvPr/>
        </p:nvSpPr>
        <p:spPr>
          <a:xfrm xmlns:a="http://schemas.openxmlformats.org/drawingml/2006/main">
            <a:off x="647700" y="5524500"/>
            <a:ext cx="108013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34B"/>
                </a:solidFill>
                <a:latin typeface="Arial"/>
                <a:ea typeface="Arial"/>
                <a:cs typeface="Arial"/>
              </a:defRPr>
            </a:pPr>
            <a:r>
              <a:rPr sz="1800" b="0">
                <a:solidFill>
                  <a:srgbClr val="18334B"/>
                </a:solidFill>
                <a:latin typeface="Arial"/>
                <a:ea typeface="Arial"/>
                <a:cs typeface="Arial"/>
              </a:rPr>
              <a:t>Traceability baseline: reliable player detection at 50–90 cm.</a:t>
            </a:r>
          </a:p>
          <a:p xmlns:a="http://schemas.openxmlformats.org/drawingml/2006/main">
            <a:pPr>
              <a:defRPr sz="1800" b="0">
                <a:solidFill>
                  <a:srgbClr val="18334B"/>
                </a:solidFill>
                <a:latin typeface="Arial"/>
                <a:ea typeface="Arial"/>
                <a:cs typeface="Arial"/>
              </a:defRPr>
            </a:pPr>
            <a:r>
              <a:rPr sz="1800" b="0">
                <a:solidFill>
                  <a:srgbClr val="18334B"/>
                </a:solidFill>
                <a:latin typeface="Arial"/>
                <a:ea typeface="Arial"/>
                <a:cs typeface="Arial"/>
              </a:rPr>
              <a:t>The PDF records these as Week 4 qualitative bench tests.</a:t>
            </a:r>
          </a:p>
        </p:txBody>
      </p:sp>
    </p:spTree>
    <p:extLst>
      <p:ext uri="{BB962C8B-B14F-4D97-AF65-F5344CB8AC3E}">
        <p14:creationId xmlns:p14="http://schemas.microsoft.com/office/powerpoint/2010/main" val="18211503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4ED6888-8D0C-45D4-91F5-29D29D18264C}"/>
              </a:ext>
            </a:extLst>
          </p:cNvPr>
          <p:cNvSpPr>
            <a:spLocks xmlns:a="http://schemas.openxmlformats.org/drawingml/2006/main" noGrp="1"/>
          </p:cNvSpPr>
          <p:nvPr/>
        </p:nvSpPr>
        <p:spPr>
          <a:xfrm xmlns:a="http://schemas.openxmlformats.org/drawingml/2006/main">
            <a:off x="609600" y="3810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34B"/>
                </a:solidFill>
                <a:latin typeface="Arial"/>
                <a:ea typeface="Arial"/>
                <a:cs typeface="Arial"/>
              </a:defRPr>
            </a:pPr>
            <a:r>
              <a:rPr sz="3225" b="1">
                <a:solidFill>
                  <a:srgbClr val="18334B"/>
                </a:solidFill>
                <a:latin typeface="Arial"/>
                <a:ea typeface="Arial"/>
                <a:cs typeface="Arial"/>
              </a:rPr>
              <a:t>Sampling rate</a:t>
            </a:r>
          </a:p>
        </p:txBody>
      </p:sp>
      <p:sp>
        <p:nvSpPr>
          <p:cNvPr id="2" name="">
            <a:extLst xmlns:a="http://schemas.openxmlformats.org/drawingml/2006/main">
              <a:ext uri="{FF2B5EF4-FFF2-40B4-BE49-F238E27FC236}">
                <a16:creationId xmlns:a16="http://schemas.microsoft.com/office/drawing/2014/main" id="{497490A9-A314-47C5-A861-93F6AC82C35D}"/>
              </a:ext>
            </a:extLst>
          </p:cNvPr>
          <p:cNvSpPr>
            <a:spLocks xmlns:a="http://schemas.openxmlformats.org/drawingml/2006/main" noGrp="1"/>
          </p:cNvSpPr>
          <p:nvPr/>
        </p:nvSpPr>
        <p:spPr>
          <a:xfrm xmlns:a="http://schemas.openxmlformats.org/drawingml/2006/main">
            <a:off x="628650" y="107632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577"/>
                </a:solidFill>
                <a:latin typeface="Arial"/>
                <a:ea typeface="Arial"/>
                <a:cs typeface="Arial"/>
              </a:defRPr>
            </a:pPr>
            <a:r>
              <a:rPr sz="1800" b="0">
                <a:solidFill>
                  <a:srgbClr val="536577"/>
                </a:solidFill>
                <a:latin typeface="Arial"/>
                <a:ea typeface="Arial"/>
                <a:cs typeface="Arial"/>
              </a:rPr>
              <a:t>Synthetic runs retain the documented sensor timing</a:t>
            </a:r>
          </a:p>
        </p:txBody>
      </p:sp>
      <p:sp>
        <p:nvSpPr>
          <p:cNvPr id="3" name="">
            <a:extLst xmlns:a="http://schemas.openxmlformats.org/drawingml/2006/main">
              <a:ext uri="{FF2B5EF4-FFF2-40B4-BE49-F238E27FC236}">
                <a16:creationId xmlns:a16="http://schemas.microsoft.com/office/drawing/2014/main" id="{986A9A36-D396-40A3-899C-BF5DA4A9F290}"/>
              </a:ext>
            </a:extLst>
          </p:cNvPr>
          <p:cNvSpPr>
            <a:spLocks xmlns:a="http://schemas.openxmlformats.org/drawingml/2006/main" noGrp="1"/>
          </p:cNvSpPr>
          <p:nvPr/>
        </p:nvSpPr>
        <p:spPr>
          <a:xfrm xmlns:a="http://schemas.openxmlformats.org/drawingml/2006/main">
            <a:off x="628650" y="6381750"/>
            <a:ext cx="10620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577"/>
                </a:solidFill>
                <a:latin typeface="Arial"/>
                <a:ea typeface="Arial"/>
                <a:cs typeface="Arial"/>
              </a:defRPr>
            </a:pPr>
            <a:r>
              <a:rPr sz="1200" b="0">
                <a:solidFill>
                  <a:srgbClr val="536577"/>
                </a:solidFill>
                <a:latin typeface="Arial"/>
                <a:ea typeface="Arial"/>
                <a:cs typeface="Arial"/>
              </a:rPr>
              <a:t>Synthetic scenario data. Full assumptions and raw trials are in the accompanying workbook.</a:t>
            </a:r>
          </a:p>
        </p:txBody>
      </p:sp>
      <p:graphicFrame>
        <p:nvGraphicFramePr>
          <p:cNvPr id="10" name="Chart"/>
          <p:cNvGraphicFramePr/>
          <p:nvPr/>
        </p:nvGraphicFramePr>
        <p:xfrm>
          <a:off xmlns:a="http://schemas.openxmlformats.org/drawingml/2006/main" x="666750" y="1809750"/>
          <a:ext xmlns:a="http://schemas.openxmlformats.org/drawingml/2006/main" cx="10668000" cy="3286125"/>
        </p:xfrm>
        <a:graphic xmlns:a="http://schemas.openxmlformats.org/drawingml/2006/main">
          <a:graphicData uri="http://schemas.openxmlformats.org/drawingml/2006/chart">
            <c:chart xmlns:r="http://schemas.openxmlformats.org/officeDocument/2006/relationships" xmlns:c="http://schemas.openxmlformats.org/drawingml/2006/chart" r:id="R5f618ed94dfc47cb"/>
          </a:graphicData>
        </a:graphic>
      </p:graphicFrame>
      <p:sp>
        <p:nvSpPr>
          <p:cNvPr id="5" name="">
            <a:extLst xmlns:a="http://schemas.openxmlformats.org/drawingml/2006/main">
              <a:ext uri="{FF2B5EF4-FFF2-40B4-BE49-F238E27FC236}">
                <a16:creationId xmlns:a16="http://schemas.microsoft.com/office/drawing/2014/main" id="{71C5B8C2-C53C-43E5-9976-C68897B4AF46}"/>
              </a:ext>
            </a:extLst>
          </p:cNvPr>
          <p:cNvSpPr>
            <a:spLocks xmlns:a="http://schemas.openxmlformats.org/drawingml/2006/main" noGrp="1"/>
          </p:cNvSpPr>
          <p:nvPr/>
        </p:nvSpPr>
        <p:spPr>
          <a:xfrm xmlns:a="http://schemas.openxmlformats.org/drawingml/2006/main">
            <a:off x="666750" y="52673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334B"/>
                </a:solidFill>
                <a:latin typeface="Arial"/>
                <a:ea typeface="Arial"/>
                <a:cs typeface="Arial"/>
              </a:defRPr>
            </a:pPr>
            <a:r>
              <a:rPr sz="2250" b="1">
                <a:solidFill>
                  <a:srgbClr val="18334B"/>
                </a:solidFill>
                <a:latin typeface="Arial"/>
                <a:ea typeface="Arial"/>
                <a:cs typeface="Arial"/>
              </a:rPr>
              <a:t>Valid rate: 9.20 to 10.60 Hz per sensor</a:t>
            </a:r>
          </a:p>
        </p:txBody>
      </p:sp>
      <p:sp>
        <p:nvSpPr>
          <p:cNvPr id="6" name="">
            <a:extLst xmlns:a="http://schemas.openxmlformats.org/drawingml/2006/main">
              <a:ext uri="{FF2B5EF4-FFF2-40B4-BE49-F238E27FC236}">
                <a16:creationId xmlns:a16="http://schemas.microsoft.com/office/drawing/2014/main" id="{0EFDE7EA-330B-4386-9B71-72EADE7EFBE2}"/>
              </a:ext>
            </a:extLst>
          </p:cNvPr>
          <p:cNvSpPr>
            <a:spLocks xmlns:a="http://schemas.openxmlformats.org/drawingml/2006/main" noGrp="1"/>
          </p:cNvSpPr>
          <p:nvPr/>
        </p:nvSpPr>
        <p:spPr>
          <a:xfrm xmlns:a="http://schemas.openxmlformats.org/drawingml/2006/main">
            <a:off x="666750" y="5753100"/>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577"/>
                </a:solidFill>
                <a:latin typeface="Arial"/>
                <a:ea typeface="Arial"/>
                <a:cs typeface="Arial"/>
              </a:defRPr>
            </a:pPr>
            <a:r>
              <a:rPr sz="1725" b="0">
                <a:solidFill>
                  <a:srgbClr val="536577"/>
                </a:solidFill>
                <a:latin typeface="Arial"/>
                <a:ea typeface="Arial"/>
                <a:cs typeface="Arial"/>
              </a:rPr>
              <a:t>45 ms alternating triggers imply 11.11 Hz per sensor nominally.</a:t>
            </a:r>
          </a:p>
          <a:p xmlns:a="http://schemas.openxmlformats.org/drawingml/2006/main">
            <a:pPr>
              <a:defRPr sz="1725" b="0">
                <a:solidFill>
                  <a:srgbClr val="536577"/>
                </a:solidFill>
                <a:latin typeface="Arial"/>
                <a:ea typeface="Arial"/>
                <a:cs typeface="Arial"/>
              </a:defRPr>
            </a:pPr>
            <a:r>
              <a:rPr sz="1725" b="0">
                <a:solidFill>
                  <a:srgbClr val="536577"/>
                </a:solidFill>
                <a:latin typeface="Arial"/>
                <a:ea typeface="Arial"/>
                <a:cs typeface="Arial"/>
              </a:rPr>
              <a:t>Each week contains five 60-second runs for each of two sensors.</a:t>
            </a:r>
          </a:p>
        </p:txBody>
      </p:sp>
    </p:spTree>
    <p:extLst>
      <p:ext uri="{BB962C8B-B14F-4D97-AF65-F5344CB8AC3E}">
        <p14:creationId xmlns:p14="http://schemas.microsoft.com/office/powerpoint/2010/main" val="11640858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3798698-ECD4-4736-AD07-DAD7C7705D74}"/>
              </a:ext>
            </a:extLst>
          </p:cNvPr>
          <p:cNvSpPr>
            <a:spLocks xmlns:a="http://schemas.openxmlformats.org/drawingml/2006/main" noGrp="1"/>
          </p:cNvSpPr>
          <p:nvPr/>
        </p:nvSpPr>
        <p:spPr>
          <a:xfrm xmlns:a="http://schemas.openxmlformats.org/drawingml/2006/main">
            <a:off x="609600" y="3810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34B"/>
                </a:solidFill>
                <a:latin typeface="Arial"/>
                <a:ea typeface="Arial"/>
                <a:cs typeface="Arial"/>
              </a:defRPr>
            </a:pPr>
            <a:r>
              <a:rPr sz="3225" b="1">
                <a:solidFill>
                  <a:srgbClr val="18334B"/>
                </a:solidFill>
                <a:latin typeface="Arial"/>
                <a:ea typeface="Arial"/>
                <a:cs typeface="Arial"/>
              </a:rPr>
              <a:t>ESP32-to-computer communication latency</a:t>
            </a:r>
          </a:p>
        </p:txBody>
      </p:sp>
      <p:sp>
        <p:nvSpPr>
          <p:cNvPr id="2" name="">
            <a:extLst xmlns:a="http://schemas.openxmlformats.org/drawingml/2006/main">
              <a:ext uri="{FF2B5EF4-FFF2-40B4-BE49-F238E27FC236}">
                <a16:creationId xmlns:a16="http://schemas.microsoft.com/office/drawing/2014/main" id="{33DA4487-25BC-4CAB-9655-E31EA3E442BF}"/>
              </a:ext>
            </a:extLst>
          </p:cNvPr>
          <p:cNvSpPr>
            <a:spLocks xmlns:a="http://schemas.openxmlformats.org/drawingml/2006/main" noGrp="1"/>
          </p:cNvSpPr>
          <p:nvPr/>
        </p:nvSpPr>
        <p:spPr>
          <a:xfrm xmlns:a="http://schemas.openxmlformats.org/drawingml/2006/main">
            <a:off x="628650" y="107632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577"/>
                </a:solidFill>
                <a:latin typeface="Arial"/>
                <a:ea typeface="Arial"/>
                <a:cs typeface="Arial"/>
              </a:defRPr>
            </a:pPr>
            <a:r>
              <a:rPr sz="1800" b="0">
                <a:solidFill>
                  <a:srgbClr val="536577"/>
                </a:solidFill>
                <a:latin typeface="Arial"/>
                <a:ea typeface="Arial"/>
                <a:cs typeface="Arial"/>
              </a:rPr>
              <a:t>Synthetic HTTP round-trip time between the computer and the access-point ESP32</a:t>
            </a:r>
          </a:p>
        </p:txBody>
      </p:sp>
      <p:sp>
        <p:nvSpPr>
          <p:cNvPr id="3" name="">
            <a:extLst xmlns:a="http://schemas.openxmlformats.org/drawingml/2006/main">
              <a:ext uri="{FF2B5EF4-FFF2-40B4-BE49-F238E27FC236}">
                <a16:creationId xmlns:a16="http://schemas.microsoft.com/office/drawing/2014/main" id="{E6C423FE-AAC8-4951-B2E8-BFE1F7DCE465}"/>
              </a:ext>
            </a:extLst>
          </p:cNvPr>
          <p:cNvSpPr>
            <a:spLocks xmlns:a="http://schemas.openxmlformats.org/drawingml/2006/main" noGrp="1"/>
          </p:cNvSpPr>
          <p:nvPr/>
        </p:nvSpPr>
        <p:spPr>
          <a:xfrm xmlns:a="http://schemas.openxmlformats.org/drawingml/2006/main">
            <a:off x="628650" y="6381750"/>
            <a:ext cx="10620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577"/>
                </a:solidFill>
                <a:latin typeface="Arial"/>
                <a:ea typeface="Arial"/>
                <a:cs typeface="Arial"/>
              </a:defRPr>
            </a:pPr>
            <a:r>
              <a:rPr sz="1200" b="0">
                <a:solidFill>
                  <a:srgbClr val="536577"/>
                </a:solidFill>
                <a:latin typeface="Arial"/>
                <a:ea typeface="Arial"/>
                <a:cs typeface="Arial"/>
              </a:rPr>
              <a:t>Synthetic scenario data. Full assumptions and raw trials are in the accompanying workbook.</a:t>
            </a:r>
          </a:p>
        </p:txBody>
      </p:sp>
      <p:graphicFrame>
        <p:nvGraphicFramePr>
          <p:cNvPr id="10" name="Chart"/>
          <p:cNvGraphicFramePr/>
          <p:nvPr/>
        </p:nvGraphicFramePr>
        <p:xfrm>
          <a:off xmlns:a="http://schemas.openxmlformats.org/drawingml/2006/main" x="666750" y="1809750"/>
          <a:ext xmlns:a="http://schemas.openxmlformats.org/drawingml/2006/main" cx="10668000" cy="3286125"/>
        </p:xfrm>
        <a:graphic xmlns:a="http://schemas.openxmlformats.org/drawingml/2006/main">
          <a:graphicData uri="http://schemas.openxmlformats.org/drawingml/2006/chart">
            <c:chart xmlns:r="http://schemas.openxmlformats.org/officeDocument/2006/relationships" xmlns:c="http://schemas.openxmlformats.org/drawingml/2006/chart" r:id="R9268597c03724433"/>
          </a:graphicData>
        </a:graphic>
      </p:graphicFrame>
      <p:sp>
        <p:nvSpPr>
          <p:cNvPr id="5" name="">
            <a:extLst xmlns:a="http://schemas.openxmlformats.org/drawingml/2006/main">
              <a:ext uri="{FF2B5EF4-FFF2-40B4-BE49-F238E27FC236}">
                <a16:creationId xmlns:a16="http://schemas.microsoft.com/office/drawing/2014/main" id="{DDDFCA56-D45C-4E08-B889-2AE2004908FA}"/>
              </a:ext>
            </a:extLst>
          </p:cNvPr>
          <p:cNvSpPr>
            <a:spLocks xmlns:a="http://schemas.openxmlformats.org/drawingml/2006/main" noGrp="1"/>
          </p:cNvSpPr>
          <p:nvPr/>
        </p:nvSpPr>
        <p:spPr>
          <a:xfrm xmlns:a="http://schemas.openxmlformats.org/drawingml/2006/main">
            <a:off x="666750" y="526732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334B"/>
                </a:solidFill>
                <a:latin typeface="Arial"/>
                <a:ea typeface="Arial"/>
                <a:cs typeface="Arial"/>
              </a:defRPr>
            </a:pPr>
            <a:r>
              <a:rPr sz="2250" b="1">
                <a:solidFill>
                  <a:srgbClr val="18334B"/>
                </a:solidFill>
                <a:latin typeface="Arial"/>
                <a:ea typeface="Arial"/>
                <a:cs typeface="Arial"/>
              </a:rPr>
              <a:t>Mean RTT: 30.0 ms in Week 5 to 21.0 ms in Week 9</a:t>
            </a:r>
          </a:p>
        </p:txBody>
      </p:sp>
      <p:sp>
        <p:nvSpPr>
          <p:cNvPr id="6" name="">
            <a:extLst xmlns:a="http://schemas.openxmlformats.org/drawingml/2006/main">
              <a:ext uri="{FF2B5EF4-FFF2-40B4-BE49-F238E27FC236}">
                <a16:creationId xmlns:a16="http://schemas.microsoft.com/office/drawing/2014/main" id="{89D865E0-6C4D-4BFD-8E90-453C83A286AD}"/>
              </a:ext>
            </a:extLst>
          </p:cNvPr>
          <p:cNvSpPr>
            <a:spLocks xmlns:a="http://schemas.openxmlformats.org/drawingml/2006/main" noGrp="1"/>
          </p:cNvSpPr>
          <p:nvPr/>
        </p:nvSpPr>
        <p:spPr>
          <a:xfrm xmlns:a="http://schemas.openxmlformats.org/drawingml/2006/main">
            <a:off x="666750" y="5753100"/>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577"/>
                </a:solidFill>
                <a:latin typeface="Arial"/>
                <a:ea typeface="Arial"/>
                <a:cs typeface="Arial"/>
              </a:defRPr>
            </a:pPr>
            <a:r>
              <a:rPr sz="1725" b="0">
                <a:solidFill>
                  <a:srgbClr val="536577"/>
                </a:solidFill>
                <a:latin typeface="Arial"/>
                <a:ea typeface="Arial"/>
                <a:cs typeface="Arial"/>
              </a:rPr>
              <a:t>30 requests per week include occasional delay spikes.</a:t>
            </a:r>
          </a:p>
          <a:p xmlns:a="http://schemas.openxmlformats.org/drawingml/2006/main">
            <a:pPr>
              <a:defRPr sz="1725" b="0">
                <a:solidFill>
                  <a:srgbClr val="536577"/>
                </a:solidFill>
                <a:latin typeface="Arial"/>
                <a:ea typeface="Arial"/>
                <a:cs typeface="Arial"/>
              </a:defRPr>
            </a:pPr>
            <a:r>
              <a:rPr sz="1725" b="0">
                <a:solidFill>
                  <a:srgbClr val="536577"/>
                </a:solidFill>
                <a:latin typeface="Arial"/>
                <a:ea typeface="Arial"/>
                <a:cs typeface="Arial"/>
              </a:rPr>
              <a:t>RTT excludes sensing, motion-to-screen delay and additional ESP32 nodes.</a:t>
            </a:r>
          </a:p>
        </p:txBody>
      </p:sp>
    </p:spTree>
    <p:extLst>
      <p:ext uri="{BB962C8B-B14F-4D97-AF65-F5344CB8AC3E}">
        <p14:creationId xmlns:p14="http://schemas.microsoft.com/office/powerpoint/2010/main" val="7665063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70A6E13-B77C-4884-8587-6AF882263477}"/>
              </a:ext>
            </a:extLst>
          </p:cNvPr>
          <p:cNvSpPr>
            <a:spLocks xmlns:a="http://schemas.openxmlformats.org/drawingml/2006/main" noGrp="1"/>
          </p:cNvSpPr>
          <p:nvPr/>
        </p:nvSpPr>
        <p:spPr>
          <a:xfrm xmlns:a="http://schemas.openxmlformats.org/drawingml/2006/main">
            <a:off x="609600" y="3810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34B"/>
                </a:solidFill>
                <a:latin typeface="Arial"/>
                <a:ea typeface="Arial"/>
                <a:cs typeface="Arial"/>
              </a:defRPr>
            </a:pPr>
            <a:r>
              <a:rPr sz="3225" b="1">
                <a:solidFill>
                  <a:srgbClr val="18334B"/>
                </a:solidFill>
                <a:latin typeface="Arial"/>
                <a:ea typeface="Arial"/>
                <a:cs typeface="Arial"/>
              </a:rPr>
              <a:t>Mounting-position classification accuracy</a:t>
            </a:r>
          </a:p>
        </p:txBody>
      </p:sp>
      <p:sp>
        <p:nvSpPr>
          <p:cNvPr id="2" name="">
            <a:extLst xmlns:a="http://schemas.openxmlformats.org/drawingml/2006/main">
              <a:ext uri="{FF2B5EF4-FFF2-40B4-BE49-F238E27FC236}">
                <a16:creationId xmlns:a16="http://schemas.microsoft.com/office/drawing/2014/main" id="{AC08C691-8327-4391-9E8E-899BF6A3FB63}"/>
              </a:ext>
            </a:extLst>
          </p:cNvPr>
          <p:cNvSpPr>
            <a:spLocks xmlns:a="http://schemas.openxmlformats.org/drawingml/2006/main" noGrp="1"/>
          </p:cNvSpPr>
          <p:nvPr/>
        </p:nvSpPr>
        <p:spPr>
          <a:xfrm xmlns:a="http://schemas.openxmlformats.org/drawingml/2006/main">
            <a:off x="628650" y="107632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577"/>
                </a:solidFill>
                <a:latin typeface="Arial"/>
                <a:ea typeface="Arial"/>
                <a:cs typeface="Arial"/>
              </a:defRPr>
            </a:pPr>
            <a:r>
              <a:rPr sz="1800" b="0">
                <a:solidFill>
                  <a:srgbClr val="536577"/>
                </a:solidFill>
                <a:latin typeface="Arial"/>
                <a:ea typeface="Arial"/>
                <a:cs typeface="Arial"/>
              </a:rPr>
              <a:t>Synthetic trials compare the same two mounting configurations across Weeks 5–9</a:t>
            </a:r>
          </a:p>
        </p:txBody>
      </p:sp>
      <p:sp>
        <p:nvSpPr>
          <p:cNvPr id="3" name="">
            <a:extLst xmlns:a="http://schemas.openxmlformats.org/drawingml/2006/main">
              <a:ext uri="{FF2B5EF4-FFF2-40B4-BE49-F238E27FC236}">
                <a16:creationId xmlns:a16="http://schemas.microsoft.com/office/drawing/2014/main" id="{C1468620-C40B-4EE8-AD2A-0209277AA1EE}"/>
              </a:ext>
            </a:extLst>
          </p:cNvPr>
          <p:cNvSpPr>
            <a:spLocks xmlns:a="http://schemas.openxmlformats.org/drawingml/2006/main" noGrp="1"/>
          </p:cNvSpPr>
          <p:nvPr/>
        </p:nvSpPr>
        <p:spPr>
          <a:xfrm xmlns:a="http://schemas.openxmlformats.org/drawingml/2006/main">
            <a:off x="628650" y="6381750"/>
            <a:ext cx="10620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577"/>
                </a:solidFill>
                <a:latin typeface="Arial"/>
                <a:ea typeface="Arial"/>
                <a:cs typeface="Arial"/>
              </a:defRPr>
            </a:pPr>
            <a:r>
              <a:rPr sz="1200" b="0">
                <a:solidFill>
                  <a:srgbClr val="536577"/>
                </a:solidFill>
                <a:latin typeface="Arial"/>
                <a:ea typeface="Arial"/>
                <a:cs typeface="Arial"/>
              </a:rPr>
              <a:t>Synthetic scenario data. Full assumptions and raw trials are in the accompanying workbook.</a:t>
            </a:r>
          </a:p>
        </p:txBody>
      </p:sp>
      <p:graphicFrame>
        <p:nvGraphicFramePr>
          <p:cNvPr id="10" name="Chart"/>
          <p:cNvGraphicFramePr/>
          <p:nvPr/>
        </p:nvGraphicFramePr>
        <p:xfrm>
          <a:off xmlns:a="http://schemas.openxmlformats.org/drawingml/2006/main" x="666750" y="1809750"/>
          <a:ext xmlns:a="http://schemas.openxmlformats.org/drawingml/2006/main" cx="10668000" cy="3286125"/>
        </p:xfrm>
        <a:graphic xmlns:a="http://schemas.openxmlformats.org/drawingml/2006/main">
          <a:graphicData uri="http://schemas.openxmlformats.org/drawingml/2006/chart">
            <c:chart xmlns:r="http://schemas.openxmlformats.org/officeDocument/2006/relationships" xmlns:c="http://schemas.openxmlformats.org/drawingml/2006/chart" r:id="Rec05e465abe14dfa"/>
          </a:graphicData>
        </a:graphic>
      </p:graphicFrame>
      <p:sp>
        <p:nvSpPr>
          <p:cNvPr id="5" name="">
            <a:extLst xmlns:a="http://schemas.openxmlformats.org/drawingml/2006/main">
              <a:ext uri="{FF2B5EF4-FFF2-40B4-BE49-F238E27FC236}">
                <a16:creationId xmlns:a16="http://schemas.microsoft.com/office/drawing/2014/main" id="{A076CCCE-87F3-4C1E-9982-D289AC1095DA}"/>
              </a:ext>
            </a:extLst>
          </p:cNvPr>
          <p:cNvSpPr>
            <a:spLocks xmlns:a="http://schemas.openxmlformats.org/drawingml/2006/main" noGrp="1"/>
          </p:cNvSpPr>
          <p:nvPr/>
        </p:nvSpPr>
        <p:spPr>
          <a:xfrm xmlns:a="http://schemas.openxmlformats.org/drawingml/2006/main">
            <a:off x="666750" y="526732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334B"/>
                </a:solidFill>
                <a:latin typeface="Arial"/>
                <a:ea typeface="Arial"/>
                <a:cs typeface="Arial"/>
              </a:defRPr>
            </a:pPr>
            <a:r>
              <a:rPr sz="2250" b="1">
                <a:solidFill>
                  <a:srgbClr val="18334B"/>
                </a:solidFill>
                <a:latin typeface="Arial"/>
                <a:ea typeface="Arial"/>
                <a:cs typeface="Arial"/>
              </a:rPr>
              <a:t>Week 9: 97.0% at 30/30 cm and 92.0% at 35/35 cm</a:t>
            </a:r>
          </a:p>
        </p:txBody>
      </p:sp>
      <p:sp>
        <p:nvSpPr>
          <p:cNvPr id="6" name="">
            <a:extLst xmlns:a="http://schemas.openxmlformats.org/drawingml/2006/main">
              <a:ext uri="{FF2B5EF4-FFF2-40B4-BE49-F238E27FC236}">
                <a16:creationId xmlns:a16="http://schemas.microsoft.com/office/drawing/2014/main" id="{1D992BA4-1A25-45B8-8406-1D0BC355410B}"/>
              </a:ext>
            </a:extLst>
          </p:cNvPr>
          <p:cNvSpPr>
            <a:spLocks xmlns:a="http://schemas.openxmlformats.org/drawingml/2006/main" noGrp="1"/>
          </p:cNvSpPr>
          <p:nvPr/>
        </p:nvSpPr>
        <p:spPr>
          <a:xfrm xmlns:a="http://schemas.openxmlformats.org/drawingml/2006/main">
            <a:off x="666750" y="5753100"/>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577"/>
                </a:solidFill>
                <a:latin typeface="Arial"/>
                <a:ea typeface="Arial"/>
                <a:cs typeface="Arial"/>
              </a:defRPr>
            </a:pPr>
            <a:r>
              <a:rPr sz="1725" b="0">
                <a:solidFill>
                  <a:srgbClr val="536577"/>
                </a:solidFill>
                <a:latin typeface="Arial"/>
                <a:ea typeface="Arial"/>
                <a:cs typeface="Arial"/>
              </a:rPr>
              <a:t>Five trials per setup per week, with 100 attempts per trial.</a:t>
            </a:r>
          </a:p>
          <a:p xmlns:a="http://schemas.openxmlformats.org/drawingml/2006/main">
            <a:pPr>
              <a:defRPr sz="1725" b="0">
                <a:solidFill>
                  <a:srgbClr val="536577"/>
                </a:solidFill>
                <a:latin typeface="Arial"/>
                <a:ea typeface="Arial"/>
                <a:cs typeface="Arial"/>
              </a:defRPr>
            </a:pPr>
            <a:r>
              <a:rPr sz="1725" b="0">
                <a:solidFill>
                  <a:srgbClr val="536577"/>
                </a:solidFill>
                <a:latin typeface="Arial"/>
                <a:ea typeface="Arial"/>
                <a:cs typeface="Arial"/>
              </a:rPr>
              <a:t>Accuracy = correct hole classifications / all attempts, including misses.</a:t>
            </a:r>
          </a:p>
        </p:txBody>
      </p:sp>
    </p:spTree>
    <p:extLst>
      <p:ext uri="{BB962C8B-B14F-4D97-AF65-F5344CB8AC3E}">
        <p14:creationId xmlns:p14="http://schemas.microsoft.com/office/powerpoint/2010/main" val="122902701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D2DCC28-13D8-44A8-BED5-C6BEC4600D42}"/>
              </a:ext>
            </a:extLst>
          </p:cNvPr>
          <p:cNvSpPr>
            <a:spLocks xmlns:a="http://schemas.openxmlformats.org/drawingml/2006/main" noGrp="1"/>
          </p:cNvSpPr>
          <p:nvPr/>
        </p:nvSpPr>
        <p:spPr>
          <a:xfrm xmlns:a="http://schemas.openxmlformats.org/drawingml/2006/main">
            <a:off x="609600" y="3810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34B"/>
                </a:solidFill>
                <a:latin typeface="Arial"/>
                <a:ea typeface="Arial"/>
                <a:cs typeface="Arial"/>
              </a:defRPr>
            </a:pPr>
            <a:r>
              <a:rPr sz="3225" b="1">
                <a:solidFill>
                  <a:srgbClr val="18334B"/>
                </a:solidFill>
                <a:latin typeface="Arial"/>
                <a:ea typeface="Arial"/>
                <a:cs typeface="Arial"/>
              </a:rPr>
              <a:t>Weekly data summary</a:t>
            </a:r>
          </a:p>
        </p:txBody>
      </p:sp>
      <p:sp>
        <p:nvSpPr>
          <p:cNvPr id="2" name="">
            <a:extLst xmlns:a="http://schemas.openxmlformats.org/drawingml/2006/main">
              <a:ext uri="{FF2B5EF4-FFF2-40B4-BE49-F238E27FC236}">
                <a16:creationId xmlns:a16="http://schemas.microsoft.com/office/drawing/2014/main" id="{99AE4356-1614-4F1F-85C8-53DA3225E7CE}"/>
              </a:ext>
            </a:extLst>
          </p:cNvPr>
          <p:cNvSpPr>
            <a:spLocks xmlns:a="http://schemas.openxmlformats.org/drawingml/2006/main" noGrp="1"/>
          </p:cNvSpPr>
          <p:nvPr/>
        </p:nvSpPr>
        <p:spPr>
          <a:xfrm xmlns:a="http://schemas.openxmlformats.org/drawingml/2006/main">
            <a:off x="628650" y="107632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577"/>
                </a:solidFill>
                <a:latin typeface="Arial"/>
                <a:ea typeface="Arial"/>
                <a:cs typeface="Arial"/>
              </a:defRPr>
            </a:pPr>
            <a:r>
              <a:rPr sz="1800" b="0">
                <a:solidFill>
                  <a:srgbClr val="536577"/>
                </a:solidFill>
                <a:latin typeface="Arial"/>
                <a:ea typeface="Arial"/>
                <a:cs typeface="Arial"/>
              </a:rPr>
              <a:t>Synthetic scenario values from the accompanying workbook</a:t>
            </a:r>
          </a:p>
        </p:txBody>
      </p:sp>
      <p:sp>
        <p:nvSpPr>
          <p:cNvPr id="3" name="">
            <a:extLst xmlns:a="http://schemas.openxmlformats.org/drawingml/2006/main">
              <a:ext uri="{FF2B5EF4-FFF2-40B4-BE49-F238E27FC236}">
                <a16:creationId xmlns:a16="http://schemas.microsoft.com/office/drawing/2014/main" id="{68F388D4-41A1-4C62-86D4-8D20A0B5FFC2}"/>
              </a:ext>
            </a:extLst>
          </p:cNvPr>
          <p:cNvSpPr>
            <a:spLocks xmlns:a="http://schemas.openxmlformats.org/drawingml/2006/main" noGrp="1"/>
          </p:cNvSpPr>
          <p:nvPr/>
        </p:nvSpPr>
        <p:spPr>
          <a:xfrm xmlns:a="http://schemas.openxmlformats.org/drawingml/2006/main">
            <a:off x="628650" y="6381750"/>
            <a:ext cx="10620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577"/>
                </a:solidFill>
                <a:latin typeface="Arial"/>
                <a:ea typeface="Arial"/>
                <a:cs typeface="Arial"/>
              </a:defRPr>
            </a:pPr>
            <a:r>
              <a:rPr sz="1200" b="0">
                <a:solidFill>
                  <a:srgbClr val="536577"/>
                </a:solidFill>
                <a:latin typeface="Arial"/>
                <a:ea typeface="Arial"/>
                <a:cs typeface="Arial"/>
              </a:rPr>
              <a:t>Synthetic scenario data. Full assumptions and raw trials are in the accompanying workbook.</a:t>
            </a:r>
          </a:p>
        </p:txBody>
      </p:sp>
      <p:graphicFrame>
        <p:nvGraphicFramePr>
          <p:cNvPr id="10" name=""/>
          <p:cNvGraphicFramePr/>
          <p:nvPr/>
        </p:nvGraphicFramePr>
        <p:xfrm>
          <a:off xmlns:a="http://schemas.openxmlformats.org/drawingml/2006/main" x="628650" y="1924050"/>
          <a:ext xmlns:a="http://schemas.openxmlformats.org/drawingml/2006/main" cx="10934700" cy="3105150"/>
        </p:xfrm>
        <a:graphic xmlns:a="http://schemas.openxmlformats.org/drawingml/2006/main">
          <a:graphicData uri="http://schemas.openxmlformats.org/drawingml/2006/table">
            <a:tbl>
              <a:tblPr/>
              <a:tblGrid>
                <a:gridCol w="1200150"/>
                <a:gridCol w="1619250"/>
                <a:gridCol w="1619250"/>
                <a:gridCol w="1619250"/>
                <a:gridCol w="1619250"/>
                <a:gridCol w="1628775"/>
                <a:gridCol w="1628775"/>
              </a:tblGrid>
              <a:tr h="517525">
                <a:tc>
                  <a:txBody>
                    <a:bodyPr/>
                    <a:lstStyle/>
                    <a:p>
                      <a:r>
                        <a:rPr sz="1650" b="1">
                          <a:solidFill>
                            <a:srgbClr val="FFFFFF"/>
                          </a:solidFill>
                          <a:latin typeface="Arial"/>
                          <a:ea typeface="Arial"/>
                          <a:cs typeface="Arial"/>
                        </a:rPr>
                        <a:t>Week</a:t>
                      </a:r>
                    </a:p>
                  </a:txBody>
                  <a:tcPr marL="91440" marR="91440" marT="45720" marB="45720">
                    <a:solidFill>
                      <a:srgbClr val="18334B"/>
                    </a:solidFill>
                  </a:tcPr>
                </a:tc>
                <a:tc>
                  <a:txBody>
                    <a:bodyPr/>
                    <a:lstStyle/>
                    <a:p>
                      <a:r>
                        <a:rPr sz="1650" b="1">
                          <a:solidFill>
                            <a:srgbClr val="FFFFFF"/>
                          </a:solidFill>
                          <a:latin typeface="Arial"/>
                          <a:ea typeface="Arial"/>
                          <a:cs typeface="Arial"/>
                        </a:rPr>
                        <a:t>Acquired</a:t>
                      </a:r>
                    </a:p>
                    <a:p>
                      <a:r>
                        <a:rPr sz="1650" b="1">
                          <a:solidFill>
                            <a:srgbClr val="FFFFFF"/>
                          </a:solidFill>
                          <a:latin typeface="Arial"/>
                          <a:ea typeface="Arial"/>
                          <a:cs typeface="Arial"/>
                        </a:rPr>
                        <a:t>Hz/sensor</a:t>
                      </a:r>
                    </a:p>
                  </a:txBody>
                  <a:tcPr marL="91440" marR="91440" marT="45720" marB="45720">
                    <a:solidFill>
                      <a:srgbClr val="18334B"/>
                    </a:solidFill>
                  </a:tcPr>
                </a:tc>
                <a:tc>
                  <a:txBody>
                    <a:bodyPr/>
                    <a:lstStyle/>
                    <a:p>
                      <a:r>
                        <a:rPr sz="1650" b="1">
                          <a:solidFill>
                            <a:srgbClr val="FFFFFF"/>
                          </a:solidFill>
                          <a:latin typeface="Arial"/>
                          <a:ea typeface="Arial"/>
                          <a:cs typeface="Arial"/>
                        </a:rPr>
                        <a:t>Valid</a:t>
                      </a:r>
                    </a:p>
                    <a:p>
                      <a:r>
                        <a:rPr sz="1650" b="1">
                          <a:solidFill>
                            <a:srgbClr val="FFFFFF"/>
                          </a:solidFill>
                          <a:latin typeface="Arial"/>
                          <a:ea typeface="Arial"/>
                          <a:cs typeface="Arial"/>
                        </a:rPr>
                        <a:t>Hz/sensor</a:t>
                      </a:r>
                    </a:p>
                  </a:txBody>
                  <a:tcPr marL="91440" marR="91440" marT="45720" marB="45720">
                    <a:solidFill>
                      <a:srgbClr val="18334B"/>
                    </a:solidFill>
                  </a:tcPr>
                </a:tc>
                <a:tc>
                  <a:txBody>
                    <a:bodyPr/>
                    <a:lstStyle/>
                    <a:p>
                      <a:r>
                        <a:rPr sz="1650" b="1">
                          <a:solidFill>
                            <a:srgbClr val="FFFFFF"/>
                          </a:solidFill>
                          <a:latin typeface="Arial"/>
                          <a:ea typeface="Arial"/>
                          <a:cs typeface="Arial"/>
                        </a:rPr>
                        <a:t>Mean</a:t>
                      </a:r>
                    </a:p>
                    <a:p>
                      <a:r>
                        <a:rPr sz="1650" b="1">
                          <a:solidFill>
                            <a:srgbClr val="FFFFFF"/>
                          </a:solidFill>
                          <a:latin typeface="Arial"/>
                          <a:ea typeface="Arial"/>
                          <a:cs typeface="Arial"/>
                        </a:rPr>
                        <a:t>RTT (ms)</a:t>
                      </a:r>
                    </a:p>
                  </a:txBody>
                  <a:tcPr marL="91440" marR="91440" marT="45720" marB="45720">
                    <a:solidFill>
                      <a:srgbClr val="18334B"/>
                    </a:solidFill>
                  </a:tcPr>
                </a:tc>
                <a:tc>
                  <a:txBody>
                    <a:bodyPr/>
                    <a:lstStyle/>
                    <a:p>
                      <a:r>
                        <a:rPr sz="1650" b="1">
                          <a:solidFill>
                            <a:srgbClr val="FFFFFF"/>
                          </a:solidFill>
                          <a:latin typeface="Arial"/>
                          <a:ea typeface="Arial"/>
                          <a:cs typeface="Arial"/>
                        </a:rPr>
                        <a:t>Maximum</a:t>
                      </a:r>
                    </a:p>
                    <a:p>
                      <a:r>
                        <a:rPr sz="1650" b="1">
                          <a:solidFill>
                            <a:srgbClr val="FFFFFF"/>
                          </a:solidFill>
                          <a:latin typeface="Arial"/>
                          <a:ea typeface="Arial"/>
                          <a:cs typeface="Arial"/>
                        </a:rPr>
                        <a:t>RTT (ms)</a:t>
                      </a:r>
                    </a:p>
                  </a:txBody>
                  <a:tcPr marL="91440" marR="91440" marT="45720" marB="45720">
                    <a:solidFill>
                      <a:srgbClr val="18334B"/>
                    </a:solidFill>
                  </a:tcPr>
                </a:tc>
                <a:tc>
                  <a:txBody>
                    <a:bodyPr/>
                    <a:lstStyle/>
                    <a:p>
                      <a:r>
                        <a:rPr sz="1650" b="1">
                          <a:solidFill>
                            <a:srgbClr val="FFFFFF"/>
                          </a:solidFill>
                          <a:latin typeface="Arial"/>
                          <a:ea typeface="Arial"/>
                          <a:cs typeface="Arial"/>
                        </a:rPr>
                        <a:t>30/30 cm</a:t>
                      </a:r>
                    </a:p>
                    <a:p>
                      <a:r>
                        <a:rPr sz="1650" b="1">
                          <a:solidFill>
                            <a:srgbClr val="FFFFFF"/>
                          </a:solidFill>
                          <a:latin typeface="Arial"/>
                          <a:ea typeface="Arial"/>
                          <a:cs typeface="Arial"/>
                        </a:rPr>
                        <a:t>accuracy</a:t>
                      </a:r>
                    </a:p>
                  </a:txBody>
                  <a:tcPr marL="91440" marR="91440" marT="45720" marB="45720">
                    <a:solidFill>
                      <a:srgbClr val="18334B"/>
                    </a:solidFill>
                  </a:tcPr>
                </a:tc>
                <a:tc>
                  <a:txBody>
                    <a:bodyPr/>
                    <a:lstStyle/>
                    <a:p>
                      <a:r>
                        <a:rPr sz="1650" b="1">
                          <a:solidFill>
                            <a:srgbClr val="FFFFFF"/>
                          </a:solidFill>
                          <a:latin typeface="Arial"/>
                          <a:ea typeface="Arial"/>
                          <a:cs typeface="Arial"/>
                        </a:rPr>
                        <a:t>35/35 cm</a:t>
                      </a:r>
                    </a:p>
                    <a:p>
                      <a:r>
                        <a:rPr sz="1650" b="1">
                          <a:solidFill>
                            <a:srgbClr val="FFFFFF"/>
                          </a:solidFill>
                          <a:latin typeface="Arial"/>
                          <a:ea typeface="Arial"/>
                          <a:cs typeface="Arial"/>
                        </a:rPr>
                        <a:t>accuracy</a:t>
                      </a:r>
                    </a:p>
                  </a:txBody>
                  <a:tcPr marL="91440" marR="91440" marT="45720" marB="45720">
                    <a:solidFill>
                      <a:srgbClr val="18334B"/>
                    </a:solidFill>
                  </a:tcPr>
                </a:tc>
              </a:tr>
              <a:tr h="517525">
                <a:tc>
                  <a:txBody>
                    <a:bodyPr/>
                    <a:lstStyle/>
                    <a:p>
                      <a:r>
                        <a:rPr sz="1950" b="0">
                          <a:solidFill>
                            <a:srgbClr val="18334B"/>
                          </a:solidFill>
                          <a:latin typeface="Arial"/>
                          <a:ea typeface="Arial"/>
                          <a:cs typeface="Arial"/>
                        </a:rPr>
                        <a:t>Week 5</a:t>
                      </a:r>
                    </a:p>
                  </a:txBody>
                  <a:tcPr marL="91440" marR="91440" marT="45720" marB="45720">
                    <a:solidFill>
                      <a:srgbClr val="EEF4F7"/>
                    </a:solidFill>
                  </a:tcPr>
                </a:tc>
                <a:tc>
                  <a:txBody>
                    <a:bodyPr/>
                    <a:lstStyle/>
                    <a:p>
                      <a:r>
                        <a:rPr sz="1950" b="0">
                          <a:solidFill>
                            <a:srgbClr val="18334B"/>
                          </a:solidFill>
                          <a:latin typeface="Arial"/>
                          <a:ea typeface="Arial"/>
                          <a:cs typeface="Arial"/>
                        </a:rPr>
                        <a:t>10.93</a:t>
                      </a:r>
                    </a:p>
                  </a:txBody>
                  <a:tcPr marL="91440" marR="91440" marT="45720" marB="45720">
                    <a:solidFill>
                      <a:srgbClr val="EEF4F7"/>
                    </a:solidFill>
                  </a:tcPr>
                </a:tc>
                <a:tc>
                  <a:txBody>
                    <a:bodyPr/>
                    <a:lstStyle/>
                    <a:p>
                      <a:r>
                        <a:rPr sz="1950" b="0">
                          <a:solidFill>
                            <a:srgbClr val="18334B"/>
                          </a:solidFill>
                          <a:latin typeface="Arial"/>
                          <a:ea typeface="Arial"/>
                          <a:cs typeface="Arial"/>
                        </a:rPr>
                        <a:t>9.20</a:t>
                      </a:r>
                    </a:p>
                  </a:txBody>
                  <a:tcPr marL="91440" marR="91440" marT="45720" marB="45720">
                    <a:solidFill>
                      <a:srgbClr val="EEF4F7"/>
                    </a:solidFill>
                  </a:tcPr>
                </a:tc>
                <a:tc>
                  <a:txBody>
                    <a:bodyPr/>
                    <a:lstStyle/>
                    <a:p>
                      <a:r>
                        <a:rPr sz="1950" b="0">
                          <a:solidFill>
                            <a:srgbClr val="18334B"/>
                          </a:solidFill>
                          <a:latin typeface="Arial"/>
                          <a:ea typeface="Arial"/>
                          <a:cs typeface="Arial"/>
                        </a:rPr>
                        <a:t>30.0</a:t>
                      </a:r>
                    </a:p>
                  </a:txBody>
                  <a:tcPr marL="91440" marR="91440" marT="45720" marB="45720">
                    <a:solidFill>
                      <a:srgbClr val="EEF4F7"/>
                    </a:solidFill>
                  </a:tcPr>
                </a:tc>
                <a:tc>
                  <a:txBody>
                    <a:bodyPr/>
                    <a:lstStyle/>
                    <a:p>
                      <a:r>
                        <a:rPr sz="1950" b="0">
                          <a:solidFill>
                            <a:srgbClr val="18334B"/>
                          </a:solidFill>
                          <a:latin typeface="Arial"/>
                          <a:ea typeface="Arial"/>
                          <a:cs typeface="Arial"/>
                        </a:rPr>
                        <a:t>58.4</a:t>
                      </a:r>
                    </a:p>
                  </a:txBody>
                  <a:tcPr marL="91440" marR="91440" marT="45720" marB="45720">
                    <a:solidFill>
                      <a:srgbClr val="EEF4F7"/>
                    </a:solidFill>
                  </a:tcPr>
                </a:tc>
                <a:tc>
                  <a:txBody>
                    <a:bodyPr/>
                    <a:lstStyle/>
                    <a:p>
                      <a:r>
                        <a:rPr sz="1950" b="0">
                          <a:solidFill>
                            <a:srgbClr val="18334B"/>
                          </a:solidFill>
                          <a:latin typeface="Arial"/>
                          <a:ea typeface="Arial"/>
                          <a:cs typeface="Arial"/>
                        </a:rPr>
                        <a:t>80.6%</a:t>
                      </a:r>
                    </a:p>
                  </a:txBody>
                  <a:tcPr marL="91440" marR="91440" marT="45720" marB="45720">
                    <a:solidFill>
                      <a:srgbClr val="EEF4F7"/>
                    </a:solidFill>
                  </a:tcPr>
                </a:tc>
                <a:tc>
                  <a:txBody>
                    <a:bodyPr/>
                    <a:lstStyle/>
                    <a:p>
                      <a:r>
                        <a:rPr sz="1950" b="0">
                          <a:solidFill>
                            <a:srgbClr val="18334B"/>
                          </a:solidFill>
                          <a:latin typeface="Arial"/>
                          <a:ea typeface="Arial"/>
                          <a:cs typeface="Arial"/>
                        </a:rPr>
                        <a:t>77.6%</a:t>
                      </a:r>
                    </a:p>
                  </a:txBody>
                  <a:tcPr marL="91440" marR="91440" marT="45720" marB="45720">
                    <a:solidFill>
                      <a:srgbClr val="EEF4F7"/>
                    </a:solidFill>
                  </a:tcPr>
                </a:tc>
              </a:tr>
              <a:tr h="517525">
                <a:tc>
                  <a:txBody>
                    <a:bodyPr/>
                    <a:lstStyle/>
                    <a:p>
                      <a:r>
                        <a:rPr sz="1950" b="0">
                          <a:solidFill>
                            <a:srgbClr val="18334B"/>
                          </a:solidFill>
                          <a:latin typeface="Arial"/>
                          <a:ea typeface="Arial"/>
                          <a:cs typeface="Arial"/>
                        </a:rPr>
                        <a:t>Week 6</a:t>
                      </a:r>
                    </a:p>
                  </a:txBody>
                  <a:tcPr marL="91440" marR="91440" marT="45720" marB="45720">
                    <a:solidFill>
                      <a:srgbClr val="FFFFFF"/>
                    </a:solidFill>
                  </a:tcPr>
                </a:tc>
                <a:tc>
                  <a:txBody>
                    <a:bodyPr/>
                    <a:lstStyle/>
                    <a:p>
                      <a:r>
                        <a:rPr sz="1950" b="0">
                          <a:solidFill>
                            <a:srgbClr val="18334B"/>
                          </a:solidFill>
                          <a:latin typeface="Arial"/>
                          <a:ea typeface="Arial"/>
                          <a:cs typeface="Arial"/>
                        </a:rPr>
                        <a:t>10.93</a:t>
                      </a:r>
                    </a:p>
                  </a:txBody>
                  <a:tcPr marL="91440" marR="91440" marT="45720" marB="45720">
                    <a:solidFill>
                      <a:srgbClr val="FFFFFF"/>
                    </a:solidFill>
                  </a:tcPr>
                </a:tc>
                <a:tc>
                  <a:txBody>
                    <a:bodyPr/>
                    <a:lstStyle/>
                    <a:p>
                      <a:r>
                        <a:rPr sz="1950" b="0">
                          <a:solidFill>
                            <a:srgbClr val="18334B"/>
                          </a:solidFill>
                          <a:latin typeface="Arial"/>
                          <a:ea typeface="Arial"/>
                          <a:cs typeface="Arial"/>
                        </a:rPr>
                        <a:t>9.77</a:t>
                      </a:r>
                    </a:p>
                  </a:txBody>
                  <a:tcPr marL="91440" marR="91440" marT="45720" marB="45720">
                    <a:solidFill>
                      <a:srgbClr val="FFFFFF"/>
                    </a:solidFill>
                  </a:tcPr>
                </a:tc>
                <a:tc>
                  <a:txBody>
                    <a:bodyPr/>
                    <a:lstStyle/>
                    <a:p>
                      <a:r>
                        <a:rPr sz="1950" b="0">
                          <a:solidFill>
                            <a:srgbClr val="18334B"/>
                          </a:solidFill>
                          <a:latin typeface="Arial"/>
                          <a:ea typeface="Arial"/>
                          <a:cs typeface="Arial"/>
                        </a:rPr>
                        <a:t>26.6</a:t>
                      </a:r>
                    </a:p>
                  </a:txBody>
                  <a:tcPr marL="91440" marR="91440" marT="45720" marB="45720">
                    <a:solidFill>
                      <a:srgbClr val="FFFFFF"/>
                    </a:solidFill>
                  </a:tcPr>
                </a:tc>
                <a:tc>
                  <a:txBody>
                    <a:bodyPr/>
                    <a:lstStyle/>
                    <a:p>
                      <a:r>
                        <a:rPr sz="1950" b="0">
                          <a:solidFill>
                            <a:srgbClr val="18334B"/>
                          </a:solidFill>
                          <a:latin typeface="Arial"/>
                          <a:ea typeface="Arial"/>
                          <a:cs typeface="Arial"/>
                        </a:rPr>
                        <a:t>67.0</a:t>
                      </a:r>
                    </a:p>
                  </a:txBody>
                  <a:tcPr marL="91440" marR="91440" marT="45720" marB="45720">
                    <a:solidFill>
                      <a:srgbClr val="FFFFFF"/>
                    </a:solidFill>
                  </a:tcPr>
                </a:tc>
                <a:tc>
                  <a:txBody>
                    <a:bodyPr/>
                    <a:lstStyle/>
                    <a:p>
                      <a:r>
                        <a:rPr sz="1950" b="0">
                          <a:solidFill>
                            <a:srgbClr val="18334B"/>
                          </a:solidFill>
                          <a:latin typeface="Arial"/>
                          <a:ea typeface="Arial"/>
                          <a:cs typeface="Arial"/>
                        </a:rPr>
                        <a:t>87.4%</a:t>
                      </a:r>
                    </a:p>
                  </a:txBody>
                  <a:tcPr marL="91440" marR="91440" marT="45720" marB="45720">
                    <a:solidFill>
                      <a:srgbClr val="FFFFFF"/>
                    </a:solidFill>
                  </a:tcPr>
                </a:tc>
                <a:tc>
                  <a:txBody>
                    <a:bodyPr/>
                    <a:lstStyle/>
                    <a:p>
                      <a:r>
                        <a:rPr sz="1950" b="0">
                          <a:solidFill>
                            <a:srgbClr val="18334B"/>
                          </a:solidFill>
                          <a:latin typeface="Arial"/>
                          <a:ea typeface="Arial"/>
                          <a:cs typeface="Arial"/>
                        </a:rPr>
                        <a:t>79.6%</a:t>
                      </a:r>
                    </a:p>
                  </a:txBody>
                  <a:tcPr marL="91440" marR="91440" marT="45720" marB="45720">
                    <a:solidFill>
                      <a:srgbClr val="FFFFFF"/>
                    </a:solidFill>
                  </a:tcPr>
                </a:tc>
              </a:tr>
              <a:tr h="517525">
                <a:tc>
                  <a:txBody>
                    <a:bodyPr/>
                    <a:lstStyle/>
                    <a:p>
                      <a:r>
                        <a:rPr sz="1950" b="0">
                          <a:solidFill>
                            <a:srgbClr val="18334B"/>
                          </a:solidFill>
                          <a:latin typeface="Arial"/>
                          <a:ea typeface="Arial"/>
                          <a:cs typeface="Arial"/>
                        </a:rPr>
                        <a:t>Week 7</a:t>
                      </a:r>
                    </a:p>
                  </a:txBody>
                  <a:tcPr marL="91440" marR="91440" marT="45720" marB="45720">
                    <a:solidFill>
                      <a:srgbClr val="EEF4F7"/>
                    </a:solidFill>
                  </a:tcPr>
                </a:tc>
                <a:tc>
                  <a:txBody>
                    <a:bodyPr/>
                    <a:lstStyle/>
                    <a:p>
                      <a:r>
                        <a:rPr sz="1950" b="0">
                          <a:solidFill>
                            <a:srgbClr val="18334B"/>
                          </a:solidFill>
                          <a:latin typeface="Arial"/>
                          <a:ea typeface="Arial"/>
                          <a:cs typeface="Arial"/>
                        </a:rPr>
                        <a:t>10.93</a:t>
                      </a:r>
                    </a:p>
                  </a:txBody>
                  <a:tcPr marL="91440" marR="91440" marT="45720" marB="45720">
                    <a:solidFill>
                      <a:srgbClr val="EEF4F7"/>
                    </a:solidFill>
                  </a:tcPr>
                </a:tc>
                <a:tc>
                  <a:txBody>
                    <a:bodyPr/>
                    <a:lstStyle/>
                    <a:p>
                      <a:r>
                        <a:rPr sz="1950" b="0">
                          <a:solidFill>
                            <a:srgbClr val="18334B"/>
                          </a:solidFill>
                          <a:latin typeface="Arial"/>
                          <a:ea typeface="Arial"/>
                          <a:cs typeface="Arial"/>
                        </a:rPr>
                        <a:t>9.94</a:t>
                      </a:r>
                    </a:p>
                  </a:txBody>
                  <a:tcPr marL="91440" marR="91440" marT="45720" marB="45720">
                    <a:solidFill>
                      <a:srgbClr val="EEF4F7"/>
                    </a:solidFill>
                  </a:tcPr>
                </a:tc>
                <a:tc>
                  <a:txBody>
                    <a:bodyPr/>
                    <a:lstStyle/>
                    <a:p>
                      <a:r>
                        <a:rPr sz="1950" b="0">
                          <a:solidFill>
                            <a:srgbClr val="18334B"/>
                          </a:solidFill>
                          <a:latin typeface="Arial"/>
                          <a:ea typeface="Arial"/>
                          <a:cs typeface="Arial"/>
                        </a:rPr>
                        <a:t>29.1</a:t>
                      </a:r>
                    </a:p>
                  </a:txBody>
                  <a:tcPr marL="91440" marR="91440" marT="45720" marB="45720">
                    <a:solidFill>
                      <a:srgbClr val="EEF4F7"/>
                    </a:solidFill>
                  </a:tcPr>
                </a:tc>
                <a:tc>
                  <a:txBody>
                    <a:bodyPr/>
                    <a:lstStyle/>
                    <a:p>
                      <a:r>
                        <a:rPr sz="1950" b="0">
                          <a:solidFill>
                            <a:srgbClr val="18334B"/>
                          </a:solidFill>
                          <a:latin typeface="Arial"/>
                          <a:ea typeface="Arial"/>
                          <a:cs typeface="Arial"/>
                        </a:rPr>
                        <a:t>84.0</a:t>
                      </a:r>
                    </a:p>
                  </a:txBody>
                  <a:tcPr marL="91440" marR="91440" marT="45720" marB="45720">
                    <a:solidFill>
                      <a:srgbClr val="EEF4F7"/>
                    </a:solidFill>
                  </a:tcPr>
                </a:tc>
                <a:tc>
                  <a:txBody>
                    <a:bodyPr/>
                    <a:lstStyle/>
                    <a:p>
                      <a:r>
                        <a:rPr sz="1950" b="0">
                          <a:solidFill>
                            <a:srgbClr val="18334B"/>
                          </a:solidFill>
                          <a:latin typeface="Arial"/>
                          <a:ea typeface="Arial"/>
                          <a:cs typeface="Arial"/>
                        </a:rPr>
                        <a:t>92.2%</a:t>
                      </a:r>
                    </a:p>
                  </a:txBody>
                  <a:tcPr marL="91440" marR="91440" marT="45720" marB="45720">
                    <a:solidFill>
                      <a:srgbClr val="EEF4F7"/>
                    </a:solidFill>
                  </a:tcPr>
                </a:tc>
                <a:tc>
                  <a:txBody>
                    <a:bodyPr/>
                    <a:lstStyle/>
                    <a:p>
                      <a:r>
                        <a:rPr sz="1950" b="0">
                          <a:solidFill>
                            <a:srgbClr val="18334B"/>
                          </a:solidFill>
                          <a:latin typeface="Arial"/>
                          <a:ea typeface="Arial"/>
                          <a:cs typeface="Arial"/>
                        </a:rPr>
                        <a:t>85.4%</a:t>
                      </a:r>
                    </a:p>
                  </a:txBody>
                  <a:tcPr marL="91440" marR="91440" marT="45720" marB="45720">
                    <a:solidFill>
                      <a:srgbClr val="EEF4F7"/>
                    </a:solidFill>
                  </a:tcPr>
                </a:tc>
              </a:tr>
              <a:tr h="517525">
                <a:tc>
                  <a:txBody>
                    <a:bodyPr/>
                    <a:lstStyle/>
                    <a:p>
                      <a:r>
                        <a:rPr sz="1950" b="0">
                          <a:solidFill>
                            <a:srgbClr val="18334B"/>
                          </a:solidFill>
                          <a:latin typeface="Arial"/>
                          <a:ea typeface="Arial"/>
                          <a:cs typeface="Arial"/>
                        </a:rPr>
                        <a:t>Week 8</a:t>
                      </a:r>
                    </a:p>
                  </a:txBody>
                  <a:tcPr marL="91440" marR="91440" marT="45720" marB="45720">
                    <a:solidFill>
                      <a:srgbClr val="FFFFFF"/>
                    </a:solidFill>
                  </a:tcPr>
                </a:tc>
                <a:tc>
                  <a:txBody>
                    <a:bodyPr/>
                    <a:lstStyle/>
                    <a:p>
                      <a:r>
                        <a:rPr sz="1950" b="0">
                          <a:solidFill>
                            <a:srgbClr val="18334B"/>
                          </a:solidFill>
                          <a:latin typeface="Arial"/>
                          <a:ea typeface="Arial"/>
                          <a:cs typeface="Arial"/>
                        </a:rPr>
                        <a:t>10.94</a:t>
                      </a:r>
                    </a:p>
                  </a:txBody>
                  <a:tcPr marL="91440" marR="91440" marT="45720" marB="45720">
                    <a:solidFill>
                      <a:srgbClr val="FFFFFF"/>
                    </a:solidFill>
                  </a:tcPr>
                </a:tc>
                <a:tc>
                  <a:txBody>
                    <a:bodyPr/>
                    <a:lstStyle/>
                    <a:p>
                      <a:r>
                        <a:rPr sz="1950" b="0">
                          <a:solidFill>
                            <a:srgbClr val="18334B"/>
                          </a:solidFill>
                          <a:latin typeface="Arial"/>
                          <a:ea typeface="Arial"/>
                          <a:cs typeface="Arial"/>
                        </a:rPr>
                        <a:t>10.33</a:t>
                      </a:r>
                    </a:p>
                  </a:txBody>
                  <a:tcPr marL="91440" marR="91440" marT="45720" marB="45720">
                    <a:solidFill>
                      <a:srgbClr val="FFFFFF"/>
                    </a:solidFill>
                  </a:tcPr>
                </a:tc>
                <a:tc>
                  <a:txBody>
                    <a:bodyPr/>
                    <a:lstStyle/>
                    <a:p>
                      <a:r>
                        <a:rPr sz="1950" b="0">
                          <a:solidFill>
                            <a:srgbClr val="18334B"/>
                          </a:solidFill>
                          <a:latin typeface="Arial"/>
                          <a:ea typeface="Arial"/>
                          <a:cs typeface="Arial"/>
                        </a:rPr>
                        <a:t>23.9</a:t>
                      </a:r>
                    </a:p>
                  </a:txBody>
                  <a:tcPr marL="91440" marR="91440" marT="45720" marB="45720">
                    <a:solidFill>
                      <a:srgbClr val="FFFFFF"/>
                    </a:solidFill>
                  </a:tcPr>
                </a:tc>
                <a:tc>
                  <a:txBody>
                    <a:bodyPr/>
                    <a:lstStyle/>
                    <a:p>
                      <a:r>
                        <a:rPr sz="1950" b="0">
                          <a:solidFill>
                            <a:srgbClr val="18334B"/>
                          </a:solidFill>
                          <a:latin typeface="Arial"/>
                          <a:ea typeface="Arial"/>
                          <a:cs typeface="Arial"/>
                        </a:rPr>
                        <a:t>60.3</a:t>
                      </a:r>
                    </a:p>
                  </a:txBody>
                  <a:tcPr marL="91440" marR="91440" marT="45720" marB="45720">
                    <a:solidFill>
                      <a:srgbClr val="FFFFFF"/>
                    </a:solidFill>
                  </a:tcPr>
                </a:tc>
                <a:tc>
                  <a:txBody>
                    <a:bodyPr/>
                    <a:lstStyle/>
                    <a:p>
                      <a:r>
                        <a:rPr sz="1950" b="0">
                          <a:solidFill>
                            <a:srgbClr val="18334B"/>
                          </a:solidFill>
                          <a:latin typeface="Arial"/>
                          <a:ea typeface="Arial"/>
                          <a:cs typeface="Arial"/>
                        </a:rPr>
                        <a:t>93.4%</a:t>
                      </a:r>
                    </a:p>
                  </a:txBody>
                  <a:tcPr marL="91440" marR="91440" marT="45720" marB="45720">
                    <a:solidFill>
                      <a:srgbClr val="FFFFFF"/>
                    </a:solidFill>
                  </a:tcPr>
                </a:tc>
                <a:tc>
                  <a:txBody>
                    <a:bodyPr/>
                    <a:lstStyle/>
                    <a:p>
                      <a:r>
                        <a:rPr sz="1950" b="0">
                          <a:solidFill>
                            <a:srgbClr val="18334B"/>
                          </a:solidFill>
                          <a:latin typeface="Arial"/>
                          <a:ea typeface="Arial"/>
                          <a:cs typeface="Arial"/>
                        </a:rPr>
                        <a:t>88.6%</a:t>
                      </a:r>
                    </a:p>
                  </a:txBody>
                  <a:tcPr marL="91440" marR="91440" marT="45720" marB="45720">
                    <a:solidFill>
                      <a:srgbClr val="FFFFFF"/>
                    </a:solidFill>
                  </a:tcPr>
                </a:tc>
              </a:tr>
              <a:tr h="517525">
                <a:tc>
                  <a:txBody>
                    <a:bodyPr/>
                    <a:lstStyle/>
                    <a:p>
                      <a:r>
                        <a:rPr sz="1950" b="0">
                          <a:solidFill>
                            <a:srgbClr val="18334B"/>
                          </a:solidFill>
                          <a:latin typeface="Arial"/>
                          <a:ea typeface="Arial"/>
                          <a:cs typeface="Arial"/>
                        </a:rPr>
                        <a:t>Week 9</a:t>
                      </a:r>
                    </a:p>
                  </a:txBody>
                  <a:tcPr marL="91440" marR="91440" marT="45720" marB="45720">
                    <a:solidFill>
                      <a:srgbClr val="EEF4F7"/>
                    </a:solidFill>
                  </a:tcPr>
                </a:tc>
                <a:tc>
                  <a:txBody>
                    <a:bodyPr/>
                    <a:lstStyle/>
                    <a:p>
                      <a:r>
                        <a:rPr sz="1950" b="0">
                          <a:solidFill>
                            <a:srgbClr val="18334B"/>
                          </a:solidFill>
                          <a:latin typeface="Arial"/>
                          <a:ea typeface="Arial"/>
                          <a:cs typeface="Arial"/>
                        </a:rPr>
                        <a:t>10.95</a:t>
                      </a:r>
                    </a:p>
                  </a:txBody>
                  <a:tcPr marL="91440" marR="91440" marT="45720" marB="45720">
                    <a:solidFill>
                      <a:srgbClr val="EEF4F7"/>
                    </a:solidFill>
                  </a:tcPr>
                </a:tc>
                <a:tc>
                  <a:txBody>
                    <a:bodyPr/>
                    <a:lstStyle/>
                    <a:p>
                      <a:r>
                        <a:rPr sz="1950" b="0">
                          <a:solidFill>
                            <a:srgbClr val="18334B"/>
                          </a:solidFill>
                          <a:latin typeface="Arial"/>
                          <a:ea typeface="Arial"/>
                          <a:cs typeface="Arial"/>
                        </a:rPr>
                        <a:t>10.60</a:t>
                      </a:r>
                    </a:p>
                  </a:txBody>
                  <a:tcPr marL="91440" marR="91440" marT="45720" marB="45720">
                    <a:solidFill>
                      <a:srgbClr val="EEF4F7"/>
                    </a:solidFill>
                  </a:tcPr>
                </a:tc>
                <a:tc>
                  <a:txBody>
                    <a:bodyPr/>
                    <a:lstStyle/>
                    <a:p>
                      <a:r>
                        <a:rPr sz="1950" b="0">
                          <a:solidFill>
                            <a:srgbClr val="18334B"/>
                          </a:solidFill>
                          <a:latin typeface="Arial"/>
                          <a:ea typeface="Arial"/>
                          <a:cs typeface="Arial"/>
                        </a:rPr>
                        <a:t>21.0</a:t>
                      </a:r>
                    </a:p>
                  </a:txBody>
                  <a:tcPr marL="91440" marR="91440" marT="45720" marB="45720">
                    <a:solidFill>
                      <a:srgbClr val="EEF4F7"/>
                    </a:solidFill>
                  </a:tcPr>
                </a:tc>
                <a:tc>
                  <a:txBody>
                    <a:bodyPr/>
                    <a:lstStyle/>
                    <a:p>
                      <a:r>
                        <a:rPr sz="1950" b="0">
                          <a:solidFill>
                            <a:srgbClr val="18334B"/>
                          </a:solidFill>
                          <a:latin typeface="Arial"/>
                          <a:ea typeface="Arial"/>
                          <a:cs typeface="Arial"/>
                        </a:rPr>
                        <a:t>61.7</a:t>
                      </a:r>
                    </a:p>
                  </a:txBody>
                  <a:tcPr marL="91440" marR="91440" marT="45720" marB="45720">
                    <a:solidFill>
                      <a:srgbClr val="EEF4F7"/>
                    </a:solidFill>
                  </a:tcPr>
                </a:tc>
                <a:tc>
                  <a:txBody>
                    <a:bodyPr/>
                    <a:lstStyle/>
                    <a:p>
                      <a:r>
                        <a:rPr sz="1950" b="0">
                          <a:solidFill>
                            <a:srgbClr val="18334B"/>
                          </a:solidFill>
                          <a:latin typeface="Arial"/>
                          <a:ea typeface="Arial"/>
                          <a:cs typeface="Arial"/>
                        </a:rPr>
                        <a:t>97.0%</a:t>
                      </a:r>
                    </a:p>
                  </a:txBody>
                  <a:tcPr marL="91440" marR="91440" marT="45720" marB="45720">
                    <a:solidFill>
                      <a:srgbClr val="EEF4F7"/>
                    </a:solidFill>
                  </a:tcPr>
                </a:tc>
                <a:tc>
                  <a:txBody>
                    <a:bodyPr/>
                    <a:lstStyle/>
                    <a:p>
                      <a:r>
                        <a:rPr sz="1950" b="0">
                          <a:solidFill>
                            <a:srgbClr val="18334B"/>
                          </a:solidFill>
                          <a:latin typeface="Arial"/>
                          <a:ea typeface="Arial"/>
                          <a:cs typeface="Arial"/>
                        </a:rPr>
                        <a:t>92.0%</a:t>
                      </a:r>
                    </a:p>
                  </a:txBody>
                  <a:tcPr marL="91440" marR="91440" marT="45720" marB="45720">
                    <a:solidFill>
                      <a:srgbClr val="EEF4F7"/>
                    </a:solidFill>
                  </a:tcPr>
                </a:tc>
              </a:tr>
            </a:tbl>
          </a:graphicData>
        </a:graphic>
      </p:graphicFrame>
      <p:sp>
        <p:nvSpPr>
          <p:cNvPr id="5" name="">
            <a:extLst xmlns:a="http://schemas.openxmlformats.org/drawingml/2006/main">
              <a:ext uri="{FF2B5EF4-FFF2-40B4-BE49-F238E27FC236}">
                <a16:creationId xmlns:a16="http://schemas.microsoft.com/office/drawing/2014/main" id="{DB6A635C-CD87-4A9B-8E09-62A1AB62CE71}"/>
              </a:ext>
            </a:extLst>
          </p:cNvPr>
          <p:cNvSpPr>
            <a:spLocks xmlns:a="http://schemas.openxmlformats.org/drawingml/2006/main" noGrp="1"/>
          </p:cNvSpPr>
          <p:nvPr/>
        </p:nvSpPr>
        <p:spPr>
          <a:xfrm xmlns:a="http://schemas.openxmlformats.org/drawingml/2006/main">
            <a:off x="647700" y="531495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334B"/>
                </a:solidFill>
                <a:latin typeface="Arial"/>
                <a:ea typeface="Arial"/>
                <a:cs typeface="Arial"/>
              </a:defRPr>
            </a:pPr>
            <a:r>
              <a:rPr sz="2250" b="1">
                <a:solidFill>
                  <a:srgbClr val="18334B"/>
                </a:solidFill>
                <a:latin typeface="Arial"/>
                <a:ea typeface="Arial"/>
                <a:cs typeface="Arial"/>
              </a:rPr>
              <a:t>250 synthetic records</a:t>
            </a:r>
          </a:p>
        </p:txBody>
      </p:sp>
      <p:sp>
        <p:nvSpPr>
          <p:cNvPr id="6" name="">
            <a:extLst xmlns:a="http://schemas.openxmlformats.org/drawingml/2006/main">
              <a:ext uri="{FF2B5EF4-FFF2-40B4-BE49-F238E27FC236}">
                <a16:creationId xmlns:a16="http://schemas.microsoft.com/office/drawing/2014/main" id="{BA8766BA-0C09-43F5-997F-ACA87A7EFE0D}"/>
              </a:ext>
            </a:extLst>
          </p:cNvPr>
          <p:cNvSpPr>
            <a:spLocks xmlns:a="http://schemas.openxmlformats.org/drawingml/2006/main" noGrp="1"/>
          </p:cNvSpPr>
          <p:nvPr/>
        </p:nvSpPr>
        <p:spPr>
          <a:xfrm xmlns:a="http://schemas.openxmlformats.org/drawingml/2006/main">
            <a:off x="647700" y="5772150"/>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577"/>
                </a:solidFill>
                <a:latin typeface="Arial"/>
                <a:ea typeface="Arial"/>
                <a:cs typeface="Arial"/>
              </a:defRPr>
            </a:pPr>
            <a:r>
              <a:rPr sz="1800" b="0">
                <a:solidFill>
                  <a:srgbClr val="536577"/>
                </a:solidFill>
                <a:latin typeface="Arial"/>
                <a:ea typeface="Arial"/>
                <a:cs typeface="Arial"/>
              </a:rPr>
              <a:t>50 sampling trials, 150 latency requests and 50 position trials.</a:t>
            </a:r>
          </a:p>
          <a:p xmlns:a="http://schemas.openxmlformats.org/drawingml/2006/main">
            <a:pPr>
              <a:defRPr sz="1800" b="0">
                <a:solidFill>
                  <a:srgbClr val="536577"/>
                </a:solidFill>
                <a:latin typeface="Arial"/>
                <a:ea typeface="Arial"/>
                <a:cs typeface="Arial"/>
              </a:defRPr>
            </a:pPr>
            <a:r>
              <a:rPr sz="1800" b="0">
                <a:solidFill>
                  <a:srgbClr val="536577"/>
                </a:solidFill>
                <a:latin typeface="Arial"/>
                <a:ea typeface="Arial"/>
                <a:cs typeface="Arial"/>
              </a:rPr>
              <a:t>Measured demo conclusions require real test logs.</a:t>
            </a:r>
          </a:p>
        </p:txBody>
      </p:sp>
    </p:spTree>
    <p:extLst>
      <p:ext uri="{BB962C8B-B14F-4D97-AF65-F5344CB8AC3E}">
        <p14:creationId xmlns:p14="http://schemas.microsoft.com/office/powerpoint/2010/main" val="18706493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2026-10-05T00:05:11.2980000Z</dcterms:created>
  <dcterms:modified xsi:type="dcterms:W3CDTF">2026-10-05T00:05:11.2980000Z</dcterms:modified>
</coreProperties>
</file>